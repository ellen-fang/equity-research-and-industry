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  <p:sldMasterId id="2147483674" r:id="rId3"/>
  </p:sldMasterIdLst>
  <p:notesMasterIdLst>
    <p:notesMasterId r:id="rId3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3" r:id="rId19"/>
    <p:sldId id="275" r:id="rId20"/>
    <p:sldId id="277" r:id="rId21"/>
    <p:sldId id="278" r:id="rId22"/>
    <p:sldId id="279" r:id="rId23"/>
    <p:sldId id="280" r:id="rId24"/>
    <p:sldId id="281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35"/>
      <p:bold r:id="rId36"/>
    </p:embeddedFont>
    <p:embeddedFont>
      <p:font typeface="微軟正黑體" panose="020B0604030504040204" pitchFamily="34" charset="-120"/>
      <p:regular r:id="rId37"/>
      <p:bold r:id="rId38"/>
    </p:embeddedFont>
    <p:embeddedFont>
      <p:font typeface="微軟正黑體" panose="020B0604030504040204" pitchFamily="34" charset="-12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0" roundtripDataSignature="AMtx7mjOF8IJ3U/seTn/jicmVw9gNnNgk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evin Huang" initials="" lastIdx="7" clrIdx="0"/>
  <p:cmAuthor id="1" name="Brian “vastoville” Wu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6ED"/>
    <a:srgbClr val="F1A63B"/>
    <a:srgbClr val="F5E5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F244E0B-DF4C-41BC-92F3-A661F252351B}">
  <a:tblStyle styleId="{1F244E0B-DF4C-41BC-92F3-A661F252351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B377617-7A92-447B-A2A4-9726C6F975C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1E5D2EE-1532-4578-90B8-D0C90720EED2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472C4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472C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B68E9A6-A27C-460E-885C-FF5D6AFE4BE9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4154C39-7483-4B66-9DE6-2F6D77CEC586}" styleName="Table_4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DEE529F-65EA-4B2C-8520-2936BB77051D}" styleName="Table_5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D9C0F23-8BC3-4CF7-A390-BA56772D7511}" styleName="Table_6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50" Type="http://customschemas.google.com/relationships/presentationmetadata" Target="metadata"/><Relationship Id="rId55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3.fntdata"/><Relationship Id="rId53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2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52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font" Target="fonts/font1.fntdata"/><Relationship Id="rId8" Type="http://schemas.openxmlformats.org/officeDocument/2006/relationships/slide" Target="slides/slide5.xml"/><Relationship Id="rId51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4.fntdata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07T08:16:06.728" idx="2">
    <p:pos x="6000" y="100"/>
    <p:text>精簡表格字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commentPostId="AAABxNtq8Gs"/>
      </p:ext>
    </p:extLst>
  </p:cm>
  <p:cm authorId="1" dt="2025-12-07T08:18:09.366" idx="1">
    <p:pos x="6000" y="0"/>
    <p:text>microsoft &amp; intel gaudi 潛在專案?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commentPostId="AAABxNtq8Gw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ews.tw/2025/03/18/google-taps-mediatek-broadcom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1" name="Google Shape;20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847d0c546_1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a847d0c546_1_5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5" name="Google Shape;215;g3a847d0c546_1_5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6c53eb87a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g3a6c53eb87a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847d0c546_1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3a847d0c546_1_5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9" name="Google Shape;259;g3a847d0c546_1_5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6c53eb87a_2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https://technews.tw/2025/03/18/google-taps-mediatek-broadcom/</a:t>
            </a:r>
            <a:endParaRPr/>
          </a:p>
        </p:txBody>
      </p:sp>
      <p:sp>
        <p:nvSpPr>
          <p:cNvPr id="271" name="Google Shape;271;g3a6c53eb87a_2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60a63c62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g3a60a63c625_1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3" name="Google Shape;303;g3a60a63c625_1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60a63c625_1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g3a60a63c625_1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1" name="Google Shape;331;g3a60a63c625_1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a847d0c546_1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g3a847d0c546_1_5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7" name="Google Shape;357;g3a847d0c546_1_5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60a63c625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g3a60a63c625_14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IP 台廠 力旺 M31</a:t>
            </a:r>
            <a:endParaRPr/>
          </a:p>
        </p:txBody>
      </p:sp>
      <p:sp>
        <p:nvSpPr>
          <p:cNvPr id="370" name="Google Shape;370;g3a60a63c625_14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a60a63c625_14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g3a60a63c625_14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而 AI 模型推理端因模型權重已經固定，僅需執行大量矩陣運算，對運算精度的要求也較訓練端低，對於 ASIC</a:t>
            </a:r>
            <a:endParaRPr/>
          </a:p>
        </p:txBody>
      </p:sp>
      <p:sp>
        <p:nvSpPr>
          <p:cNvPr id="418" name="Google Shape;418;g3a60a63c625_14_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60a63c625_14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4" name="Google Shape;444;g3a60a63c625_14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5" name="Google Shape;445;g3a60a63c625_14_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a60a63c625_14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2" name="Google Shape;472;g3a60a63c625_14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3" name="Google Shape;473;g3a60a63c625_14_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a60a63c625_14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3" name="Google Shape;533;g3a60a63c625_14_1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4" name="Google Shape;534;g3a60a63c625_14_1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a60bde1a51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6" name="Google Shape;596;g3a60bde1a51_4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7" name="Google Shape;597;g3a60bde1a51_4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a60bde1a51_4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4" name="Google Shape;664;g3a60bde1a51_4_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5" name="Google Shape;665;g3a60bde1a51_4_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a847d0c546_1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7" name="Google Shape;777;g3a847d0c546_1_5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78" name="Google Shape;778;g3a847d0c546_1_5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ae37ffa049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g3ae37ffa049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g3ae37ffa049_0_1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ab74d6735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7" name="Google Shape;887;g3ab74d67359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g3ab74d67359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e25abb71e01d2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5" name="Google Shape;915;ge25abb71e01d2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ge25abb71e01d26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592a0c91a4547f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0" name="Google Shape;940;g592a0c91a4547f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g592a0c91a4547f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96fc3eb1ea2e54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9" name="Google Shape;969;g96fc3eb1ea2e541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g96fc3eb1ea2e541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a84acc33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4" name="Google Shape;1004;g3a84acc338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g3a84acc338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a847d0c546_1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1" name="Google Shape;1051;g3a847d0c546_1_5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2" name="Google Shape;1052;g3a847d0c546_1_5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ae77be6bc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4" name="Google Shape;1064;g3ae77be6bc5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g3ae77be6bc5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ae6fd222e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9" name="Google Shape;1089;g3ae6fd222ea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g3ae6fd222ea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a847d0c546_1_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7" name="Google Shape;1117;g3a847d0c546_1_5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8" name="Google Shape;1118;g3a847d0c546_1_5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3af4e89dc6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0" name="Google Shape;1130;g3af4e89dc62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g3af4e89dc62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3a847d0c546_1_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4" name="Google Shape;1154;g3a847d0c546_1_5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5" name="Google Shape;1155;g3a847d0c546_1_5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3a6c53eb87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7" name="Google Shape;1167;g3a6c53eb8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3a847d0c546_1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8" name="Google Shape;1198;g3a847d0c546_1_5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9" name="Google Shape;1199;g3a847d0c546_1_5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2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3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個內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5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5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6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8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Google Shape;58;p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圖片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Google Shape;65;p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2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b7d5d1ec0_0_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g3ab7d5d1ec0_0_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g3ab7d5d1ec0_0_60"/>
          <p:cNvSpPr txBox="1">
            <a:spLocks noGrp="1"/>
          </p:cNvSpPr>
          <p:nvPr>
            <p:ph type="sldNum" idx="12"/>
          </p:nvPr>
        </p:nvSpPr>
        <p:spPr>
          <a:xfrm>
            <a:off x="8595300" y="48521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60a63c625_4_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3a60a63c625_4_6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3" name="Google Shape;93;g3a60a63c625_4_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g3a60a63c625_4_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a60a63c625_4_6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60a63c625_4_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g3a60a63c625_4_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g3a60a63c625_4_12"/>
          <p:cNvSpPr txBox="1">
            <a:spLocks noGrp="1"/>
          </p:cNvSpPr>
          <p:nvPr>
            <p:ph type="sldNum" idx="12"/>
          </p:nvPr>
        </p:nvSpPr>
        <p:spPr>
          <a:xfrm>
            <a:off x="8595300" y="48521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60a63c625_4_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3a60a63c625_4_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g3a60a63c625_4_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3a60a63c625_4_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a60a63c625_4_16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60a63c625_4_22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g3a60a63c625_4_22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g3a60a63c625_4_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a60a63c625_4_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3a60a63c625_4_22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個內容" type="twoObj">
  <p:cSld name="TWO_OBJECT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60a63c625_4_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a60a63c625_4_2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g3a60a63c625_4_2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g3a60a63c625_4_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3a60a63c625_4_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3a60a63c625_4_28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60a63c625_4_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3a60a63c625_4_35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22" name="Google Shape;122;g3a60a63c625_4_35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g3a60a63c625_4_3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24" name="Google Shape;124;g3a60a63c625_4_3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g3a60a63c625_4_3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3a60a63c625_4_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a60a63c625_4_35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60a63c625_4_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g3a60a63c625_4_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3a60a63c625_4_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3a60a63c625_4_44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60a63c625_4_4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3a60a63c625_4_4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a60a63c625_4_49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60a63c625_4_5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3a60a63c625_4_53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40" name="Google Shape;140;g3a60a63c625_4_53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41" name="Google Shape;141;g3a60a63c625_4_5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3a60a63c625_4_5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g3a60a63c625_4_53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圖片" type="picTx">
  <p:cSld name="PICTURE_WITH_CAPTION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60a63c625_4_6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g3a60a63c625_4_6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g3a60a63c625_4_6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48" name="Google Shape;148;g3a60a63c625_4_6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g3a60a63c625_4_6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g3a60a63c625_4_60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60a63c625_4_6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g3a60a63c625_4_67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g3a60a63c625_4_6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g3a60a63c625_4_6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g3a60a63c625_4_67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60a63c625_4_73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g3a60a63c625_4_73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g3a60a63c625_4_7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g3a60a63c625_4_7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g3a60a63c625_4_73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60a63c625_6_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7" name="Google Shape;167;g3a60a63c625_6_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" name="Google Shape;168;g3a60a63c625_6_2"/>
          <p:cNvSpPr txBox="1">
            <a:spLocks noGrp="1"/>
          </p:cNvSpPr>
          <p:nvPr>
            <p:ph type="sldNum" idx="12"/>
          </p:nvPr>
        </p:nvSpPr>
        <p:spPr>
          <a:xfrm>
            <a:off x="8595300" y="48521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60a63c625_6_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" name="Google Shape;171;g3a60a63c625_6_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60a63c625_6_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" name="Google Shape;174;g3a60a63c625_6_9"/>
          <p:cNvSpPr txBox="1">
            <a:spLocks noGrp="1"/>
          </p:cNvSpPr>
          <p:nvPr>
            <p:ph type="body" idx="1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" name="Google Shape;175;g3a60a63c625_6_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" name="Google Shape;176;g3a60a63c625_6_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" name="Google Shape;177;g3a60a63c625_6_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g3a60a63c625_6_9"/>
          <p:cNvSpPr txBox="1">
            <a:spLocks noGrp="1"/>
          </p:cNvSpPr>
          <p:nvPr>
            <p:ph type="sldNum" idx="12"/>
          </p:nvPr>
        </p:nvSpPr>
        <p:spPr>
          <a:xfrm>
            <a:off x="6457950" y="477603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60a63c625_6_1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g3a60a63c625_6_16"/>
          <p:cNvSpPr>
            <a:spLocks noGrp="1"/>
          </p:cNvSpPr>
          <p:nvPr>
            <p:ph type="pic" idx="2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g3a60a63c625_6_1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g3a60a63c625_6_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g3a60a63c625_6_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g3a60a63c625_6_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60a63c625_6_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g3a60a63c625_6_23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g3a60a63c625_6_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g3a60a63c625_6_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g3a60a63c625_6_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60a63c625_6_29"/>
          <p:cNvSpPr txBox="1">
            <a:spLocks noGrp="1"/>
          </p:cNvSpPr>
          <p:nvPr>
            <p:ph type="title"/>
          </p:nvPr>
        </p:nvSpPr>
        <p:spPr>
          <a:xfrm rot="5400000">
            <a:off x="5350049" y="1467543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" name="Google Shape;194;g3a60a63c625_6_29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" name="Google Shape;195;g3a60a63c625_6_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" name="Google Shape;196;g3a60a63c625_6_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" name="Google Shape;197;g3a60a63c625_6_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1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60a63c625_4_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g3a60a63c625_4_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g3a60a63c625_4_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g3a60a63c625_4_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g3a60a63c625_4_0"/>
          <p:cNvSpPr txBox="1">
            <a:spLocks noGrp="1"/>
          </p:cNvSpPr>
          <p:nvPr>
            <p:ph type="sldNum" idx="12"/>
          </p:nvPr>
        </p:nvSpPr>
        <p:spPr>
          <a:xfrm>
            <a:off x="6982385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60a63c625_6_0"/>
          <p:cNvSpPr txBox="1">
            <a:spLocks noGrp="1"/>
          </p:cNvSpPr>
          <p:nvPr>
            <p:ph type="sldNum" idx="12"/>
          </p:nvPr>
        </p:nvSpPr>
        <p:spPr>
          <a:xfrm>
            <a:off x="3368842" y="2111542"/>
            <a:ext cx="5146500" cy="29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hyperlink" Target="https://khairy2011.medium.com/?source=post_page-----3f5a19d89e38--------------------------------" TargetMode="External"/><Relationship Id="rId4" Type="http://schemas.openxmlformats.org/officeDocument/2006/relationships/hyperlink" Target="https://khairy2011.medium.com/tpu-vs-gpu-vs-cerebras-vs-graphcore-a-fair-comparison-between-ml-hardware-3f5a19d89e38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"/>
          <p:cNvSpPr/>
          <p:nvPr/>
        </p:nvSpPr>
        <p:spPr>
          <a:xfrm>
            <a:off x="5790235" y="-1"/>
            <a:ext cx="3354000" cy="5143500"/>
          </a:xfrm>
          <a:prstGeom prst="rect">
            <a:avLst/>
          </a:prstGeom>
          <a:solidFill>
            <a:srgbClr val="F8A937"/>
          </a:solidFill>
          <a:ln>
            <a:noFill/>
          </a:ln>
          <a:effectLst>
            <a:outerShdw blurRad="469900" dist="38100" algn="l" rotWithShape="0">
              <a:srgbClr val="000000">
                <a:alpha val="3843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0" y="1920680"/>
            <a:ext cx="445800" cy="1265100"/>
          </a:xfrm>
          <a:prstGeom prst="rect">
            <a:avLst/>
          </a:prstGeom>
          <a:solidFill>
            <a:srgbClr val="F8A9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5" name="Google Shape;205;p1"/>
          <p:cNvSpPr/>
          <p:nvPr/>
        </p:nvSpPr>
        <p:spPr>
          <a:xfrm>
            <a:off x="0" y="3437433"/>
            <a:ext cx="445800" cy="1265100"/>
          </a:xfrm>
          <a:prstGeom prst="rect">
            <a:avLst/>
          </a:prstGeom>
          <a:solidFill>
            <a:srgbClr val="F5E5D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6" name="Google Shape;206;p1"/>
          <p:cNvSpPr/>
          <p:nvPr/>
        </p:nvSpPr>
        <p:spPr>
          <a:xfrm>
            <a:off x="0" y="403928"/>
            <a:ext cx="445800" cy="1265100"/>
          </a:xfrm>
          <a:prstGeom prst="rect">
            <a:avLst/>
          </a:prstGeom>
          <a:solidFill>
            <a:srgbClr val="7A645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7" name="Google Shape;207;p1"/>
          <p:cNvSpPr txBox="1"/>
          <p:nvPr/>
        </p:nvSpPr>
        <p:spPr>
          <a:xfrm>
            <a:off x="1037701" y="1920669"/>
            <a:ext cx="47031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zh-TW" sz="3600" b="1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世芯-KY (3661 .TW)</a:t>
            </a:r>
            <a:endParaRPr sz="3600" b="1" i="0" u="none" strike="noStrike" cap="none">
              <a:solidFill>
                <a:srgbClr val="595959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8" name="Google Shape;208;p1"/>
          <p:cNvSpPr txBox="1"/>
          <p:nvPr/>
        </p:nvSpPr>
        <p:spPr>
          <a:xfrm>
            <a:off x="1163950" y="2675225"/>
            <a:ext cx="47031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1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組員：</a:t>
            </a:r>
            <a:r>
              <a:rPr lang="zh-TW" sz="1800" b="1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陳風年、楊子甫、鄭凱軒、邱歆媚、</a:t>
            </a:r>
            <a:endParaRPr sz="1800" b="1">
              <a:solidFill>
                <a:srgbClr val="595959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09" name="Google Shape;209;p1"/>
          <p:cNvPicPr preferRelativeResize="0"/>
          <p:nvPr/>
        </p:nvPicPr>
        <p:blipFill rotWithShape="1">
          <a:blip r:embed="rId3">
            <a:alphaModFix amt="14000"/>
          </a:blip>
          <a:srcRect/>
          <a:stretch/>
        </p:blipFill>
        <p:spPr>
          <a:xfrm rot="5400000">
            <a:off x="6260840" y="1778143"/>
            <a:ext cx="4023127" cy="1091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51039" y="4653643"/>
            <a:ext cx="2680851" cy="417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"/>
          <p:cNvSpPr txBox="1"/>
          <p:nvPr/>
        </p:nvSpPr>
        <p:spPr>
          <a:xfrm>
            <a:off x="1163950" y="3021425"/>
            <a:ext cx="47031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1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吳秉翰、林御庭、謝亞臻、方翊倫</a:t>
            </a:r>
            <a:endParaRPr sz="1800" b="1">
              <a:solidFill>
                <a:srgbClr val="595959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47d0c546_1_513"/>
          <p:cNvSpPr/>
          <p:nvPr/>
        </p:nvSpPr>
        <p:spPr>
          <a:xfrm>
            <a:off x="6265150" y="324000"/>
            <a:ext cx="303900" cy="4417500"/>
          </a:xfrm>
          <a:prstGeom prst="roundRect">
            <a:avLst>
              <a:gd name="adj" fmla="val 50000"/>
            </a:avLst>
          </a:prstGeom>
          <a:solidFill>
            <a:srgbClr val="F5E5D4"/>
          </a:solidFill>
          <a:ln>
            <a:noFill/>
          </a:ln>
          <a:effectLst>
            <a:outerShdw blurRad="241300" dist="38100" sx="102000" sy="1020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a847d0c546_1_513"/>
          <p:cNvSpPr/>
          <p:nvPr/>
        </p:nvSpPr>
        <p:spPr>
          <a:xfrm>
            <a:off x="58" y="0"/>
            <a:ext cx="5790300" cy="5143500"/>
          </a:xfrm>
          <a:prstGeom prst="rect">
            <a:avLst/>
          </a:prstGeom>
          <a:solidFill>
            <a:srgbClr val="F1A63B"/>
          </a:solidFill>
          <a:ln>
            <a:noFill/>
          </a:ln>
          <a:effectLst>
            <a:outerShdw blurRad="469900" dist="38100" algn="l" rotWithShape="0">
              <a:srgbClr val="000000">
                <a:alpha val="3804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19" name="Google Shape;219;g3a847d0c546_1_5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a847d0c546_1_513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  <p:sp>
        <p:nvSpPr>
          <p:cNvPr id="221" name="Google Shape;221;g3a847d0c546_1_513"/>
          <p:cNvSpPr txBox="1"/>
          <p:nvPr/>
        </p:nvSpPr>
        <p:spPr>
          <a:xfrm>
            <a:off x="6862496" y="703162"/>
            <a:ext cx="354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a847d0c546_1_513"/>
          <p:cNvSpPr/>
          <p:nvPr/>
        </p:nvSpPr>
        <p:spPr>
          <a:xfrm>
            <a:off x="6265150" y="110575"/>
            <a:ext cx="303900" cy="1234800"/>
          </a:xfrm>
          <a:prstGeom prst="roundRect">
            <a:avLst>
              <a:gd name="adj" fmla="val 50000"/>
            </a:avLst>
          </a:prstGeom>
          <a:solidFill>
            <a:srgbClr val="7A645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a847d0c546_1_513"/>
          <p:cNvSpPr txBox="1"/>
          <p:nvPr/>
        </p:nvSpPr>
        <p:spPr>
          <a:xfrm>
            <a:off x="1440952" y="2260051"/>
            <a:ext cx="29085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zh-TW" sz="3600" b="1" i="0" u="none" strike="noStrike" cap="none">
                <a:solidFill>
                  <a:srgbClr val="42210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3600" b="0" i="0" u="none" strike="noStrike" cap="none">
              <a:solidFill>
                <a:srgbClr val="42210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a847d0c546_1_513"/>
          <p:cNvSpPr txBox="1"/>
          <p:nvPr/>
        </p:nvSpPr>
        <p:spPr>
          <a:xfrm>
            <a:off x="7097525" y="324000"/>
            <a:ext cx="1369500" cy="4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42210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2000" b="1" i="0" u="none" strike="noStrike" cap="none">
              <a:solidFill>
                <a:srgbClr val="42210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個股介紹產業概況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成長動能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潛在風險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財務模型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附錄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6c53eb87a_2_0"/>
          <p:cNvSpPr/>
          <p:nvPr/>
        </p:nvSpPr>
        <p:spPr>
          <a:xfrm>
            <a:off x="194155" y="914120"/>
            <a:ext cx="8676000" cy="45600"/>
          </a:xfrm>
          <a:prstGeom prst="rect">
            <a:avLst/>
          </a:prstGeom>
          <a:solidFill>
            <a:srgbClr val="0D39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0" name="Google Shape;230;g3a6c53eb87a_2_0"/>
          <p:cNvSpPr txBox="1"/>
          <p:nvPr/>
        </p:nvSpPr>
        <p:spPr>
          <a:xfrm>
            <a:off x="194143" y="427575"/>
            <a:ext cx="7933800" cy="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投資建議：買入，目標價 4300 元，潛在漲幅 33 %</a:t>
            </a:r>
            <a:endParaRPr sz="2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1" name="Google Shape;231;g3a6c53eb87a_2_0"/>
          <p:cNvSpPr/>
          <p:nvPr/>
        </p:nvSpPr>
        <p:spPr>
          <a:xfrm>
            <a:off x="248525" y="1426000"/>
            <a:ext cx="8572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TW" sz="140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NVLink Fusion 開放讓世芯有機會承接更多符合該規格的高階 ASIC 專案，不再只倚賴少數雲端大客戶，可望擴大客戶基礎、提升單案技術含量與 ASP。</a:t>
            </a:r>
            <a:endParaRPr sz="1400" i="0" u="none" strike="noStrike" cap="none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TW" sz="1400" i="0" u="none" strike="noStrike" cap="none" dirty="0">
                <a:solidFill>
                  <a:srgbClr val="303030"/>
                </a:solidFill>
                <a:highlight>
                  <a:schemeClr val="lt1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世芯提前佈局矽光子互連，有望在未來高頻寬、低功耗的 AI／HPC 新架構中卡位關鍵技術節點，拉高長線專案天花板與競爭門檻，為中長期成長提供額外選擇權。</a:t>
            </a:r>
            <a:endParaRPr sz="1400" i="0" u="none" strike="noStrike" cap="none" dirty="0">
              <a:solidFill>
                <a:srgbClr val="303030"/>
              </a:solidFill>
              <a:highlight>
                <a:schemeClr val="lt1"/>
              </a:highlight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2" name="Google Shape;232;g3a6c53eb87a_2_0"/>
          <p:cNvSpPr/>
          <p:nvPr/>
        </p:nvSpPr>
        <p:spPr>
          <a:xfrm>
            <a:off x="13836" y="4876607"/>
            <a:ext cx="3360131" cy="20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3" name="Google Shape;233;g3a6c53eb87a_2_0"/>
          <p:cNvSpPr/>
          <p:nvPr/>
        </p:nvSpPr>
        <p:spPr>
          <a:xfrm>
            <a:off x="272776" y="2391529"/>
            <a:ext cx="4116600" cy="290100"/>
          </a:xfrm>
          <a:prstGeom prst="rect">
            <a:avLst/>
          </a:prstGeom>
          <a:solidFill>
            <a:srgbClr val="F1A6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世芯相較加權指數報酬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4" name="Google Shape;234;g3a6c53eb87a_2_0"/>
          <p:cNvSpPr/>
          <p:nvPr/>
        </p:nvSpPr>
        <p:spPr>
          <a:xfrm>
            <a:off x="4823824" y="2376829"/>
            <a:ext cx="3997200" cy="304800"/>
          </a:xfrm>
          <a:prstGeom prst="rect">
            <a:avLst/>
          </a:prstGeom>
          <a:solidFill>
            <a:srgbClr val="F1A5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世芯相較半導體產業表現</a:t>
            </a:r>
            <a:endParaRPr sz="1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5" name="Google Shape;235;g3a6c53eb87a_2_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6" name="Google Shape;236;g3a6c53eb87a_2_0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7" name="Google Shape;237;g3a6c53eb87a_2_0"/>
          <p:cNvSpPr/>
          <p:nvPr/>
        </p:nvSpPr>
        <p:spPr>
          <a:xfrm>
            <a:off x="304800" y="3048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8" name="Google Shape;238;g3a6c53eb87a_2_0"/>
          <p:cNvSpPr txBox="1">
            <a:spLocks noGrp="1"/>
          </p:cNvSpPr>
          <p:nvPr>
            <p:ph type="sldNum" idx="12"/>
          </p:nvPr>
        </p:nvSpPr>
        <p:spPr>
          <a:xfrm>
            <a:off x="8595300" y="48521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fld id="{00000000-1234-1234-1234-123412341234}" type="slidenum">
              <a:rPr lang="en-US" altLang="zh-TW"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fld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239" name="Google Shape;239;g3a6c53eb87a_2_0"/>
          <p:cNvGraphicFramePr/>
          <p:nvPr/>
        </p:nvGraphicFramePr>
        <p:xfrm>
          <a:off x="194154" y="1019668"/>
          <a:ext cx="8676000" cy="304810"/>
        </p:xfrm>
        <a:graphic>
          <a:graphicData uri="http://schemas.openxmlformats.org/drawingml/2006/table">
            <a:tbl>
              <a:tblPr firstRow="1" bandRow="1">
                <a:noFill/>
                <a:tableStyleId>{1F244E0B-DF4C-41BC-92F3-A661F252351B}</a:tableStyleId>
              </a:tblPr>
              <a:tblGrid>
                <a:gridCol w="109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買進原因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b="1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股票代號：</a:t>
                      </a:r>
                      <a:r>
                        <a:rPr lang="zh-TW" sz="1400" b="1" u="none" strike="noStrike" cap="none" dirty="0">
                          <a:solidFill>
                            <a:schemeClr val="dk1"/>
                          </a:solidFill>
                        </a:rPr>
                        <a:t>3661</a:t>
                      </a:r>
                      <a:r>
                        <a:rPr lang="zh-TW" sz="1400" b="1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｜產業：</a:t>
                      </a:r>
                      <a:r>
                        <a:rPr lang="zh-TW" sz="1400" b="1" u="none" strike="noStrike" cap="none" dirty="0">
                          <a:solidFill>
                            <a:schemeClr val="dk1"/>
                          </a:solidFill>
                        </a:rPr>
                        <a:t>IC 設計</a:t>
                      </a:r>
                      <a:r>
                        <a:rPr lang="zh-TW" sz="14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｜評價基準日：</a:t>
                      </a:r>
                      <a:r>
                        <a:rPr lang="zh-TW" sz="1400" b="1" u="none" strike="noStrike" cap="none" dirty="0">
                          <a:solidFill>
                            <a:schemeClr val="dk1"/>
                          </a:solidFill>
                        </a:rPr>
                        <a:t>2025/12/12</a:t>
                      </a:r>
                      <a:r>
                        <a:rPr lang="zh-TW" sz="14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｜收盤價： </a:t>
                      </a:r>
                      <a:r>
                        <a:rPr lang="zh-TW" sz="1400" b="1" u="none" strike="noStrike" cap="none" dirty="0">
                          <a:solidFill>
                            <a:schemeClr val="dk1"/>
                          </a:solidFill>
                        </a:rPr>
                        <a:t>3,220</a:t>
                      </a:r>
                      <a:r>
                        <a:rPr lang="zh-TW" sz="14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元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0" name="Google Shape;240;g3a6c53eb87a_2_0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241" name="Google Shape;241;g3a6c53eb87a_2_0"/>
          <p:cNvGrpSpPr/>
          <p:nvPr/>
        </p:nvGrpSpPr>
        <p:grpSpPr>
          <a:xfrm>
            <a:off x="-164" y="0"/>
            <a:ext cx="9144164" cy="330000"/>
            <a:chOff x="-5459" y="0"/>
            <a:chExt cx="9144164" cy="330000"/>
          </a:xfrm>
        </p:grpSpPr>
        <p:sp>
          <p:nvSpPr>
            <p:cNvPr id="242" name="Google Shape;242;g3a6c53eb87a_2_0"/>
            <p:cNvSpPr/>
            <p:nvPr/>
          </p:nvSpPr>
          <p:spPr>
            <a:xfrm>
              <a:off x="-5459" y="0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243" name="Google Shape;243;g3a6c53eb87a_2_0"/>
            <p:cNvSpPr/>
            <p:nvPr/>
          </p:nvSpPr>
          <p:spPr>
            <a:xfrm>
              <a:off x="3434054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244" name="Google Shape;244;g3a6c53eb87a_2_0"/>
            <p:cNvSpPr/>
            <p:nvPr/>
          </p:nvSpPr>
          <p:spPr>
            <a:xfrm>
              <a:off x="4580541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245" name="Google Shape;245;g3a6c53eb87a_2_0"/>
            <p:cNvSpPr/>
            <p:nvPr/>
          </p:nvSpPr>
          <p:spPr>
            <a:xfrm>
              <a:off x="572702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246" name="Google Shape;246;g3a6c53eb87a_2_0"/>
            <p:cNvSpPr/>
            <p:nvPr/>
          </p:nvSpPr>
          <p:spPr>
            <a:xfrm>
              <a:off x="6873517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247" name="Google Shape;247;g3a6c53eb87a_2_0"/>
            <p:cNvSpPr/>
            <p:nvPr/>
          </p:nvSpPr>
          <p:spPr>
            <a:xfrm>
              <a:off x="8020005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248" name="Google Shape;248;g3a6c53eb87a_2_0"/>
            <p:cNvSpPr/>
            <p:nvPr/>
          </p:nvSpPr>
          <p:spPr>
            <a:xfrm>
              <a:off x="2287550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249" name="Google Shape;249;g3a6c53eb87a_2_0"/>
            <p:cNvSpPr/>
            <p:nvPr/>
          </p:nvSpPr>
          <p:spPr>
            <a:xfrm>
              <a:off x="1141062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cxnSp>
        <p:nvCxnSpPr>
          <p:cNvPr id="250" name="Google Shape;250;g3a6c53eb87a_2_0"/>
          <p:cNvCxnSpPr/>
          <p:nvPr/>
        </p:nvCxnSpPr>
        <p:spPr>
          <a:xfrm>
            <a:off x="248520" y="4823931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51" name="Google Shape;251;g3a6c53eb87a_2_0" title="分數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538" y="2681628"/>
            <a:ext cx="4116600" cy="2064995"/>
          </a:xfrm>
          <a:prstGeom prst="rect">
            <a:avLst/>
          </a:prstGeom>
          <a:solidFill>
            <a:srgbClr val="F1A63B"/>
          </a:solidFill>
          <a:ln>
            <a:noFill/>
          </a:ln>
        </p:spPr>
      </p:pic>
      <p:pic>
        <p:nvPicPr>
          <p:cNvPr id="252" name="Google Shape;252;g3a6c53eb87a_2_0" title="未命名設計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23824" y="2689271"/>
            <a:ext cx="3997199" cy="205734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a6c53eb87a_2_0"/>
          <p:cNvSpPr txBox="1"/>
          <p:nvPr/>
        </p:nvSpPr>
        <p:spPr>
          <a:xfrm>
            <a:off x="272776" y="4884250"/>
            <a:ext cx="56604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資料來源：自行整理 </a:t>
            </a:r>
            <a:endParaRPr sz="11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4" name="Google Shape;254;g3a6c53eb87a_2_0"/>
          <p:cNvSpPr txBox="1"/>
          <p:nvPr/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333</a:t>
            </a:r>
            <a:r>
              <a:rPr lang="zh-TW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fld id="{00000000-1234-1234-1234-123412341234}" type="slidenum">
              <a:rPr lang="en-US" altLang="zh-TW"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fld>
            <a:endParaRPr sz="1200" b="0" i="0" u="none" strike="noStrike" cap="non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55" name="Google Shape;255;g3a6c53eb87a_2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847d0c546_1_525"/>
          <p:cNvSpPr/>
          <p:nvPr/>
        </p:nvSpPr>
        <p:spPr>
          <a:xfrm>
            <a:off x="6265150" y="324000"/>
            <a:ext cx="303900" cy="4417500"/>
          </a:xfrm>
          <a:prstGeom prst="roundRect">
            <a:avLst>
              <a:gd name="adj" fmla="val 50000"/>
            </a:avLst>
          </a:prstGeom>
          <a:solidFill>
            <a:srgbClr val="F5E5D4"/>
          </a:solidFill>
          <a:ln>
            <a:noFill/>
          </a:ln>
          <a:effectLst>
            <a:outerShdw blurRad="241300" dist="38100" sx="102000" sy="1020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a847d0c546_1_525"/>
          <p:cNvSpPr/>
          <p:nvPr/>
        </p:nvSpPr>
        <p:spPr>
          <a:xfrm>
            <a:off x="58" y="0"/>
            <a:ext cx="5790300" cy="5143500"/>
          </a:xfrm>
          <a:prstGeom prst="rect">
            <a:avLst/>
          </a:prstGeom>
          <a:solidFill>
            <a:srgbClr val="F1A63B"/>
          </a:solidFill>
          <a:ln>
            <a:noFill/>
          </a:ln>
          <a:effectLst>
            <a:outerShdw blurRad="469900" dist="38100" algn="l" rotWithShape="0">
              <a:srgbClr val="000000">
                <a:alpha val="3804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63" name="Google Shape;263;g3a847d0c546_1_5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a847d0c546_1_525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  <p:sp>
        <p:nvSpPr>
          <p:cNvPr id="265" name="Google Shape;265;g3a847d0c546_1_525"/>
          <p:cNvSpPr txBox="1"/>
          <p:nvPr/>
        </p:nvSpPr>
        <p:spPr>
          <a:xfrm>
            <a:off x="6862496" y="703162"/>
            <a:ext cx="354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a847d0c546_1_525"/>
          <p:cNvSpPr/>
          <p:nvPr/>
        </p:nvSpPr>
        <p:spPr>
          <a:xfrm>
            <a:off x="6265150" y="324000"/>
            <a:ext cx="303900" cy="1234800"/>
          </a:xfrm>
          <a:prstGeom prst="roundRect">
            <a:avLst>
              <a:gd name="adj" fmla="val 50000"/>
            </a:avLst>
          </a:prstGeom>
          <a:solidFill>
            <a:srgbClr val="7A645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a847d0c546_1_525"/>
          <p:cNvSpPr txBox="1"/>
          <p:nvPr/>
        </p:nvSpPr>
        <p:spPr>
          <a:xfrm>
            <a:off x="1440952" y="2260051"/>
            <a:ext cx="29085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zh-TW" sz="3600" b="1">
                <a:solidFill>
                  <a:srgbClr val="42210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個股介紹</a:t>
            </a:r>
            <a:endParaRPr sz="3600" b="0" i="0" u="none" strike="noStrike" cap="none">
              <a:solidFill>
                <a:srgbClr val="42210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a847d0c546_1_525"/>
          <p:cNvSpPr txBox="1"/>
          <p:nvPr/>
        </p:nvSpPr>
        <p:spPr>
          <a:xfrm>
            <a:off x="7097525" y="324000"/>
            <a:ext cx="1369500" cy="4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42210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個股介紹</a:t>
            </a: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產業概況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成長動能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潛在風險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財務模型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附錄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6c53eb87a_2_31"/>
          <p:cNvSpPr/>
          <p:nvPr/>
        </p:nvSpPr>
        <p:spPr>
          <a:xfrm>
            <a:off x="194143" y="890003"/>
            <a:ext cx="8676000" cy="45600"/>
          </a:xfrm>
          <a:prstGeom prst="rect">
            <a:avLst/>
          </a:prstGeom>
          <a:solidFill>
            <a:srgbClr val="0D39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4" name="Google Shape;274;g3a6c53eb87a_2_31"/>
          <p:cNvSpPr txBox="1"/>
          <p:nvPr/>
        </p:nvSpPr>
        <p:spPr>
          <a:xfrm>
            <a:off x="194143" y="427575"/>
            <a:ext cx="8088900" cy="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世芯-KY（ 3661.TW ） </a:t>
            </a:r>
            <a:endParaRPr sz="2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5" name="Google Shape;275;g3a6c53eb87a_2_31"/>
          <p:cNvSpPr/>
          <p:nvPr/>
        </p:nvSpPr>
        <p:spPr>
          <a:xfrm>
            <a:off x="304800" y="3048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6" name="Google Shape;276;g3a6c53eb87a_2_31"/>
          <p:cNvSpPr txBox="1">
            <a:spLocks noGrp="1"/>
          </p:cNvSpPr>
          <p:nvPr>
            <p:ph type="sldNum" idx="12"/>
          </p:nvPr>
        </p:nvSpPr>
        <p:spPr>
          <a:xfrm>
            <a:off x="8595300" y="48521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fld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277" name="Google Shape;277;g3a6c53eb87a_2_31"/>
          <p:cNvGraphicFramePr/>
          <p:nvPr/>
        </p:nvGraphicFramePr>
        <p:xfrm>
          <a:off x="280400" y="1310506"/>
          <a:ext cx="3944100" cy="1600650"/>
        </p:xfrm>
        <a:graphic>
          <a:graphicData uri="http://schemas.openxmlformats.org/drawingml/2006/table">
            <a:tbl>
              <a:tblPr>
                <a:noFill/>
                <a:tableStyleId>{FB377617-7A92-447B-A2A4-9726C6F975CA}</a:tableStyleId>
              </a:tblPr>
              <a:tblGrid>
                <a:gridCol w="133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公司主要業務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100" b="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ASIC 設計、 Soc 設計跟製造、 AI高速晶片運算設計</a:t>
                      </a:r>
                      <a:endParaRPr sz="1100" b="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2024 營收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100" b="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520.17  億</a:t>
                      </a:r>
                      <a:endParaRPr sz="1100" b="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公司市值（億）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100" b="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2,666.11</a:t>
                      </a:r>
                      <a:r>
                        <a:rPr lang="zh-TW" sz="11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</a:t>
                      </a:r>
                      <a:r>
                        <a:rPr lang="zh-TW" sz="1100" b="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億</a:t>
                      </a:r>
                      <a:endParaRPr sz="1100" b="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收盤價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100" b="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3,220</a:t>
                      </a:r>
                      <a:endParaRPr sz="1100" b="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78" name="Google Shape;278;g3a6c53eb87a_2_31"/>
          <p:cNvGraphicFramePr/>
          <p:nvPr/>
        </p:nvGraphicFramePr>
        <p:xfrm>
          <a:off x="280400" y="3300438"/>
          <a:ext cx="3944100" cy="1752450"/>
        </p:xfrm>
        <a:graphic>
          <a:graphicData uri="http://schemas.openxmlformats.org/drawingml/2006/table">
            <a:tbl>
              <a:tblPr>
                <a:noFill/>
                <a:tableStyleId>{FB377617-7A92-447B-A2A4-9726C6F975CA}</a:tableStyleId>
              </a:tblPr>
              <a:tblGrid>
                <a:gridCol w="137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（百萬台幣）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2024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2025e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2026e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營業收入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u="none" strike="noStrike" cap="none"/>
                        <a:t>51,969</a:t>
                      </a:r>
                      <a:endParaRPr sz="11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u="none" strike="noStrike" cap="none"/>
                        <a:t>37,330</a:t>
                      </a:r>
                      <a:endParaRPr sz="11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u="none" strike="noStrike" cap="none"/>
                        <a:t>93,036</a:t>
                      </a:r>
                      <a:endParaRPr sz="11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營業利益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u="none" strike="noStrike" cap="none"/>
                        <a:t>6,496</a:t>
                      </a:r>
                      <a:endParaRPr sz="11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100" u="none" strike="noStrike" cap="none"/>
                        <a:t>4,970</a:t>
                      </a:r>
                      <a:endParaRPr sz="11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100" u="none" strike="noStrike" cap="none"/>
                        <a:t>18,328</a:t>
                      </a:r>
                      <a:endParaRPr sz="11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稅後淨利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u="none" strike="noStrike" cap="none"/>
                        <a:t>6,446</a:t>
                      </a:r>
                      <a:endParaRPr sz="11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u="none" strike="noStrike" cap="none"/>
                        <a:t>6,500</a:t>
                      </a:r>
                      <a:endParaRPr sz="11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u="none" strike="noStrike" cap="none"/>
                        <a:t>12,000</a:t>
                      </a:r>
                      <a:endParaRPr sz="11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EPS(元)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u="none" strike="noStrike" cap="none"/>
                        <a:t>81.34</a:t>
                      </a:r>
                      <a:endParaRPr sz="11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u="none" strike="noStrike" cap="none"/>
                        <a:t>67.08</a:t>
                      </a:r>
                      <a:endParaRPr sz="11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100" u="none" strike="noStrike" cap="none"/>
                        <a:t>134.93</a:t>
                      </a:r>
                      <a:endParaRPr sz="11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9" name="Google Shape;279;g3a6c53eb87a_2_31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0" name="Google Shape;280;g3a6c53eb87a_2_31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1" name="Google Shape;281;g3a6c53eb87a_2_31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2" name="Google Shape;282;g3a6c53eb87a_2_31"/>
          <p:cNvSpPr txBox="1"/>
          <p:nvPr/>
        </p:nvSpPr>
        <p:spPr>
          <a:xfrm>
            <a:off x="4724400" y="4895574"/>
            <a:ext cx="43668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資料來源：Morgan Stanley Research </a:t>
            </a:r>
            <a:endParaRPr sz="11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3" name="Google Shape;283;g3a6c53eb87a_2_31"/>
          <p:cNvSpPr/>
          <p:nvPr/>
        </p:nvSpPr>
        <p:spPr>
          <a:xfrm>
            <a:off x="280400" y="2999168"/>
            <a:ext cx="3944100" cy="330000"/>
          </a:xfrm>
          <a:prstGeom prst="rect">
            <a:avLst/>
          </a:prstGeom>
          <a:solidFill>
            <a:srgbClr val="F1A63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簡明損益表(百萬)</a:t>
            </a:r>
            <a:endParaRPr sz="11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4" name="Google Shape;284;g3a6c53eb87a_2_31"/>
          <p:cNvSpPr/>
          <p:nvPr/>
        </p:nvSpPr>
        <p:spPr>
          <a:xfrm>
            <a:off x="4703641" y="2999169"/>
            <a:ext cx="4025400" cy="330000"/>
          </a:xfrm>
          <a:prstGeom prst="rect">
            <a:avLst/>
          </a:prstGeom>
          <a:solidFill>
            <a:srgbClr val="F1A5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世芯營收組合</a:t>
            </a:r>
            <a:endParaRPr sz="11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5" name="Google Shape;285;g3a6c53eb87a_2_31"/>
          <p:cNvSpPr/>
          <p:nvPr/>
        </p:nvSpPr>
        <p:spPr>
          <a:xfrm>
            <a:off x="280400" y="980506"/>
            <a:ext cx="3944100" cy="330000"/>
          </a:xfrm>
          <a:prstGeom prst="rect">
            <a:avLst/>
          </a:prstGeom>
          <a:solidFill>
            <a:srgbClr val="F1A63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公司簡介</a:t>
            </a:r>
            <a:endParaRPr sz="1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6" name="Google Shape;286;g3a6c53eb87a_2_31"/>
          <p:cNvSpPr/>
          <p:nvPr/>
        </p:nvSpPr>
        <p:spPr>
          <a:xfrm>
            <a:off x="4703641" y="988818"/>
            <a:ext cx="4025400" cy="330000"/>
          </a:xfrm>
          <a:prstGeom prst="rect">
            <a:avLst/>
          </a:prstGeom>
          <a:solidFill>
            <a:srgbClr val="F1A5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2025Q3世芯財報摘要(百萬)</a:t>
            </a:r>
            <a:endParaRPr sz="14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87" name="Google Shape;287;g3a6c53eb87a_2_31" title="分數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5181" y="3372575"/>
            <a:ext cx="2560219" cy="153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8" name="Google Shape;288;g3a6c53eb87a_2_31"/>
          <p:cNvGrpSpPr/>
          <p:nvPr/>
        </p:nvGrpSpPr>
        <p:grpSpPr>
          <a:xfrm>
            <a:off x="-164" y="0"/>
            <a:ext cx="9144164" cy="330000"/>
            <a:chOff x="-5459" y="0"/>
            <a:chExt cx="9144164" cy="330000"/>
          </a:xfrm>
        </p:grpSpPr>
        <p:sp>
          <p:nvSpPr>
            <p:cNvPr id="289" name="Google Shape;289;g3a6c53eb87a_2_31"/>
            <p:cNvSpPr/>
            <p:nvPr/>
          </p:nvSpPr>
          <p:spPr>
            <a:xfrm>
              <a:off x="-545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EBAA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EBAA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290" name="Google Shape;290;g3a6c53eb87a_2_31"/>
            <p:cNvSpPr/>
            <p:nvPr/>
          </p:nvSpPr>
          <p:spPr>
            <a:xfrm>
              <a:off x="3434054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291" name="Google Shape;291;g3a6c53eb87a_2_31"/>
            <p:cNvSpPr/>
            <p:nvPr/>
          </p:nvSpPr>
          <p:spPr>
            <a:xfrm>
              <a:off x="4580541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292" name="Google Shape;292;g3a6c53eb87a_2_31"/>
            <p:cNvSpPr/>
            <p:nvPr/>
          </p:nvSpPr>
          <p:spPr>
            <a:xfrm>
              <a:off x="572702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293" name="Google Shape;293;g3a6c53eb87a_2_31"/>
            <p:cNvSpPr/>
            <p:nvPr/>
          </p:nvSpPr>
          <p:spPr>
            <a:xfrm>
              <a:off x="6873517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294" name="Google Shape;294;g3a6c53eb87a_2_31"/>
            <p:cNvSpPr/>
            <p:nvPr/>
          </p:nvSpPr>
          <p:spPr>
            <a:xfrm>
              <a:off x="8020005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295" name="Google Shape;295;g3a6c53eb87a_2_31"/>
            <p:cNvSpPr/>
            <p:nvPr/>
          </p:nvSpPr>
          <p:spPr>
            <a:xfrm>
              <a:off x="2287550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296" name="Google Shape;296;g3a6c53eb87a_2_31"/>
            <p:cNvSpPr/>
            <p:nvPr/>
          </p:nvSpPr>
          <p:spPr>
            <a:xfrm>
              <a:off x="1141062" y="0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graphicFrame>
        <p:nvGraphicFramePr>
          <p:cNvPr id="297" name="Google Shape;297;g3a6c53eb87a_2_31"/>
          <p:cNvGraphicFramePr/>
          <p:nvPr/>
        </p:nvGraphicFramePr>
        <p:xfrm>
          <a:off x="4703641" y="1330150"/>
          <a:ext cx="4025400" cy="1534200"/>
        </p:xfrm>
        <a:graphic>
          <a:graphicData uri="http://schemas.openxmlformats.org/drawingml/2006/table">
            <a:tbl>
              <a:tblPr>
                <a:noFill/>
                <a:tableStyleId>{FB377617-7A92-447B-A2A4-9726C6F975CA}</a:tableStyleId>
              </a:tblPr>
              <a:tblGrid>
                <a:gridCol w="201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營業收入</a:t>
                      </a:r>
                      <a:endParaRPr sz="11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A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6,570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營業毛利</a:t>
                      </a:r>
                      <a:endParaRPr sz="11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A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1,841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稅後純益</a:t>
                      </a:r>
                      <a:endParaRPr sz="11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A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1,326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7D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每股盈餘</a:t>
                      </a:r>
                      <a:r>
                        <a:rPr lang="zh-TW" sz="11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（元）</a:t>
                      </a:r>
                      <a:endParaRPr sz="11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A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16.40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8" name="Google Shape;298;g3a6c53eb87a_2_31"/>
          <p:cNvSpPr txBox="1"/>
          <p:nvPr/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99" name="Google Shape;299;g3a6c53eb87a_2_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a60a63c625_12_0"/>
          <p:cNvSpPr/>
          <p:nvPr/>
        </p:nvSpPr>
        <p:spPr>
          <a:xfrm>
            <a:off x="422575" y="952174"/>
            <a:ext cx="8309400" cy="1377927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a60a63c625_12_0"/>
          <p:cNvSpPr txBox="1"/>
          <p:nvPr/>
        </p:nvSpPr>
        <p:spPr>
          <a:xfrm>
            <a:off x="417300" y="949060"/>
            <a:ext cx="8309400" cy="142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254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l"/>
            </a:pP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在製程面，世芯不再只停留在  7/5  奈米。從第二季開始， 3  奈米首次進入量產占比；到了第三季更快速放大到近  20% 。這代表世芯已經成功跨進高階製程的新階段，切入更高附加價值、技術門檻更高的  ASIC  專案，也意味著客戶層級與產品定位都往上提升。</a:t>
            </a:r>
            <a:endParaRPr sz="1400" b="0" i="0" u="none" strike="noStrike" cap="none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254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l"/>
            </a:pP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上一代 AWS Trainium2 為 Marvell 所拿下，而世芯與 Marvell 競爭 AWS ，贏得 Trainium 3 訂單。世芯的核心競爭力在於最先進製程 ( 如 5nm/3nm ）的設計能力，貢獻 2026 預估收益顯著成長因子。 AWS Trainium3 專案預計在 2026 年啟動量產，對 2026 年世芯 trunkey 營收提供大量成長潛能。</a:t>
            </a:r>
            <a:endParaRPr sz="1600" b="0" i="0" u="none" strike="noStrike" cap="none" dirty="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07" name="Google Shape;307;g3a60a63c625_12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g3a60a63c625_12_0"/>
          <p:cNvGrpSpPr/>
          <p:nvPr/>
        </p:nvGrpSpPr>
        <p:grpSpPr>
          <a:xfrm>
            <a:off x="242301" y="434035"/>
            <a:ext cx="484808" cy="484808"/>
            <a:chOff x="1628775" y="1381125"/>
            <a:chExt cx="1352700" cy="1352700"/>
          </a:xfrm>
        </p:grpSpPr>
        <p:sp>
          <p:nvSpPr>
            <p:cNvPr id="309" name="Google Shape;309;g3a60a63c625_12_0"/>
            <p:cNvSpPr/>
            <p:nvPr/>
          </p:nvSpPr>
          <p:spPr>
            <a:xfrm>
              <a:off x="1628775" y="1381125"/>
              <a:ext cx="1352700" cy="1352700"/>
            </a:xfrm>
            <a:prstGeom prst="ellipse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0" name="Google Shape;310;g3a60a63c625_12_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60962" y="1929413"/>
              <a:ext cx="1134638" cy="3094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1" name="Google Shape;311;g3a60a63c625_12_0"/>
          <p:cNvSpPr txBox="1"/>
          <p:nvPr/>
        </p:nvSpPr>
        <p:spPr>
          <a:xfrm>
            <a:off x="696325" y="535400"/>
            <a:ext cx="83094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zh-TW"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世芯電子產品組合快速轉向 HPC，先進製程需求從 2024 → 2025 快速上升</a:t>
            </a:r>
            <a:endParaRPr sz="18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312" name="Google Shape;312;g3a60a63c625_12_0"/>
          <p:cNvCxnSpPr/>
          <p:nvPr/>
        </p:nvCxnSpPr>
        <p:spPr>
          <a:xfrm>
            <a:off x="356693" y="4834711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3" name="Google Shape;313;g3a60a63c625_12_0"/>
          <p:cNvSpPr txBox="1"/>
          <p:nvPr/>
        </p:nvSpPr>
        <p:spPr>
          <a:xfrm>
            <a:off x="272776" y="4884250"/>
            <a:ext cx="56604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資料來源：世芯電子法說會簡報、Morgan Stanley Research </a:t>
            </a:r>
            <a:endParaRPr sz="11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14" name="Google Shape;314;g3a60a63c625_12_0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  <p:sp>
        <p:nvSpPr>
          <p:cNvPr id="315" name="Google Shape;315;g3a60a63c625_12_0"/>
          <p:cNvSpPr/>
          <p:nvPr/>
        </p:nvSpPr>
        <p:spPr>
          <a:xfrm>
            <a:off x="422575" y="2365230"/>
            <a:ext cx="3550644" cy="330000"/>
          </a:xfrm>
          <a:prstGeom prst="rect">
            <a:avLst/>
          </a:prstGeom>
          <a:solidFill>
            <a:srgbClr val="F1A63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世芯電子營收製程節點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a60a63c625_12_0"/>
          <p:cNvSpPr/>
          <p:nvPr/>
        </p:nvSpPr>
        <p:spPr>
          <a:xfrm>
            <a:off x="4292098" y="2365230"/>
            <a:ext cx="4429327" cy="330000"/>
          </a:xfrm>
          <a:prstGeom prst="rect">
            <a:avLst/>
          </a:prstGeom>
          <a:solidFill>
            <a:srgbClr val="F1A63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世芯訂單分布狀況</a:t>
            </a:r>
            <a:endParaRPr sz="13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317" name="Google Shape;317;g3a60a63c625_12_0"/>
          <p:cNvGraphicFramePr/>
          <p:nvPr/>
        </p:nvGraphicFramePr>
        <p:xfrm>
          <a:off x="4296384" y="2652989"/>
          <a:ext cx="4407800" cy="2104600"/>
        </p:xfrm>
        <a:graphic>
          <a:graphicData uri="http://schemas.openxmlformats.org/drawingml/2006/table">
            <a:tbl>
              <a:tblPr>
                <a:noFill/>
                <a:tableStyleId>{FB377617-7A92-447B-A2A4-9726C6F975CA}</a:tableStyleId>
              </a:tblPr>
              <a:tblGrid>
                <a:gridCol w="134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AWS – Annapurna</a:t>
                      </a:r>
                      <a:endParaRPr sz="10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36000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b="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Inferentia2 / Trainium1 (7nm), Trainium3 (3nm)</a:t>
                      </a:r>
                      <a:endParaRPr sz="10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36000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Meta</a:t>
                      </a:r>
                      <a:endParaRPr sz="10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36000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b="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Oculus ASIC, MTIA v4?</a:t>
                      </a:r>
                      <a:endParaRPr sz="10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36000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Sony</a:t>
                      </a:r>
                      <a:endParaRPr sz="10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36000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b="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TV ASIC Smartphone ISP, D1 / Dojo (7nm)</a:t>
                      </a:r>
                      <a:endParaRPr sz="10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36000" marB="36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Li Auto</a:t>
                      </a:r>
                      <a:endParaRPr sz="10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36000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b="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ADAS High-end (5nm), ADAS Low-end (5nm)</a:t>
                      </a:r>
                      <a:endParaRPr sz="10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36000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Intel – Habana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36000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b="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Gaudi 1 (16nm)  Gaudi 2 / Goya 2 (7nm)  ,</a:t>
                      </a:r>
                      <a:endParaRPr sz="10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b="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Gaudi 3 / Goya 3 (5nm)</a:t>
                      </a:r>
                      <a:endParaRPr sz="10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36000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Tesla / xAI</a:t>
                      </a:r>
                      <a:endParaRPr sz="10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36000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b="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D1/Dojo (1nm)</a:t>
                      </a:r>
                      <a:endParaRPr sz="10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36000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18" name="Google Shape;318;g3a60a63c625_12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2575" y="2695225"/>
            <a:ext cx="3550650" cy="2104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g3a60a63c625_12_0"/>
          <p:cNvGrpSpPr/>
          <p:nvPr/>
        </p:nvGrpSpPr>
        <p:grpSpPr>
          <a:xfrm>
            <a:off x="-164" y="0"/>
            <a:ext cx="9144164" cy="330000"/>
            <a:chOff x="-5459" y="0"/>
            <a:chExt cx="9144164" cy="330000"/>
          </a:xfrm>
        </p:grpSpPr>
        <p:sp>
          <p:nvSpPr>
            <p:cNvPr id="320" name="Google Shape;320;g3a60a63c625_12_0"/>
            <p:cNvSpPr/>
            <p:nvPr/>
          </p:nvSpPr>
          <p:spPr>
            <a:xfrm>
              <a:off x="-545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EBAA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EBAA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g3a60a63c625_12_0"/>
            <p:cNvSpPr/>
            <p:nvPr/>
          </p:nvSpPr>
          <p:spPr>
            <a:xfrm>
              <a:off x="3434054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C9B4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3a60a63c625_12_0"/>
            <p:cNvSpPr/>
            <p:nvPr/>
          </p:nvSpPr>
          <p:spPr>
            <a:xfrm>
              <a:off x="4580541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rgbClr val="C9B4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3a60a63c625_12_0"/>
            <p:cNvSpPr/>
            <p:nvPr/>
          </p:nvSpPr>
          <p:spPr>
            <a:xfrm>
              <a:off x="572702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3a60a63c625_12_0"/>
            <p:cNvSpPr/>
            <p:nvPr/>
          </p:nvSpPr>
          <p:spPr>
            <a:xfrm>
              <a:off x="6873517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3a60a63c625_12_0"/>
            <p:cNvSpPr/>
            <p:nvPr/>
          </p:nvSpPr>
          <p:spPr>
            <a:xfrm>
              <a:off x="8020005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g3a60a63c625_12_0"/>
            <p:cNvSpPr/>
            <p:nvPr/>
          </p:nvSpPr>
          <p:spPr>
            <a:xfrm>
              <a:off x="2287550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rgbClr val="C9B4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g3a60a63c625_12_0"/>
            <p:cNvSpPr/>
            <p:nvPr/>
          </p:nvSpPr>
          <p:spPr>
            <a:xfrm>
              <a:off x="1141062" y="0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60a63c625_10_28"/>
          <p:cNvSpPr/>
          <p:nvPr/>
        </p:nvSpPr>
        <p:spPr>
          <a:xfrm>
            <a:off x="403343" y="958083"/>
            <a:ext cx="8254200" cy="1665266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34" name="Google Shape;334;g3a60a63c625_10_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5" name="Google Shape;335;g3a60a63c625_10_28"/>
          <p:cNvGrpSpPr/>
          <p:nvPr/>
        </p:nvGrpSpPr>
        <p:grpSpPr>
          <a:xfrm>
            <a:off x="242301" y="434035"/>
            <a:ext cx="484808" cy="484808"/>
            <a:chOff x="1628775" y="1381125"/>
            <a:chExt cx="1352700" cy="1352700"/>
          </a:xfrm>
        </p:grpSpPr>
        <p:sp>
          <p:nvSpPr>
            <p:cNvPr id="336" name="Google Shape;336;g3a60a63c625_10_28"/>
            <p:cNvSpPr/>
            <p:nvPr/>
          </p:nvSpPr>
          <p:spPr>
            <a:xfrm>
              <a:off x="1628775" y="1381125"/>
              <a:ext cx="1352700" cy="1352700"/>
            </a:xfrm>
            <a:prstGeom prst="ellipse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pic>
          <p:nvPicPr>
            <p:cNvPr id="337" name="Google Shape;337;g3a60a63c625_10_2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60962" y="1929413"/>
              <a:ext cx="1134638" cy="3094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8" name="Google Shape;338;g3a60a63c625_10_28"/>
          <p:cNvSpPr txBox="1"/>
          <p:nvPr/>
        </p:nvSpPr>
        <p:spPr>
          <a:xfrm>
            <a:off x="614690" y="526736"/>
            <a:ext cx="7946400" cy="318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zh-TW"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世芯為高階 ASIC 設計服務商，卡位雲端自研晶片與台積電先進製程交會點</a:t>
            </a:r>
            <a:endParaRPr sz="18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339" name="Google Shape;339;g3a60a63c625_10_28"/>
          <p:cNvCxnSpPr/>
          <p:nvPr/>
        </p:nvCxnSpPr>
        <p:spPr>
          <a:xfrm>
            <a:off x="356693" y="4834711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0" name="Google Shape;340;g3a60a63c625_10_28"/>
          <p:cNvSpPr txBox="1"/>
          <p:nvPr/>
        </p:nvSpPr>
        <p:spPr>
          <a:xfrm>
            <a:off x="272774" y="4884250"/>
            <a:ext cx="3105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</a:t>
            </a:r>
            <a:r>
              <a:rPr lang="zh-TW" sz="11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自行整理</a:t>
            </a:r>
            <a:r>
              <a:rPr lang="zh-TW" sz="11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sz="11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1" name="Google Shape;341;g3a60a63c625_10_28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>
                <a:latin typeface="Microsoft JhengHei"/>
                <a:ea typeface="Microsoft JhengHei"/>
                <a:cs typeface="Microsoft JhengHei"/>
                <a:sym typeface="Microsoft JhengHei"/>
              </a:rPr>
              <a:t>7</a:t>
            </a:fld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342" name="Google Shape;342;g3a60a63c625_10_28"/>
          <p:cNvGraphicFramePr/>
          <p:nvPr>
            <p:extLst>
              <p:ext uri="{D42A27DB-BD31-4B8C-83A1-F6EECF244321}">
                <p14:modId xmlns:p14="http://schemas.microsoft.com/office/powerpoint/2010/main" val="656709794"/>
              </p:ext>
            </p:extLst>
          </p:nvPr>
        </p:nvGraphicFramePr>
        <p:xfrm>
          <a:off x="397200" y="3027856"/>
          <a:ext cx="8254225" cy="1745732"/>
        </p:xfrm>
        <a:graphic>
          <a:graphicData uri="http://schemas.openxmlformats.org/drawingml/2006/table">
            <a:tbl>
              <a:tblPr>
                <a:noFill/>
                <a:tableStyleId>{1F244E0B-DF4C-41BC-92F3-A661F252351B}</a:tableStyleId>
              </a:tblPr>
              <a:tblGrid>
                <a:gridCol w="145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1" u="none" strike="noStrike" cap="none" dirty="0">
                          <a:solidFill>
                            <a:srgbClr val="1F1F1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參與者</a:t>
                      </a:r>
                      <a:endParaRPr sz="1100" b="1" u="none" strike="noStrike" cap="none" dirty="0">
                        <a:solidFill>
                          <a:srgbClr val="1F1F1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1" u="none" strike="noStrike" cap="none">
                          <a:solidFill>
                            <a:srgbClr val="1F1F1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角色定位</a:t>
                      </a:r>
                      <a:endParaRPr sz="1100" b="1" u="none" strike="noStrike" cap="none">
                        <a:solidFill>
                          <a:srgbClr val="1F1F1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1" u="none" strike="noStrike" cap="none" dirty="0">
                          <a:solidFill>
                            <a:srgbClr val="1F1F1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核心工作內容</a:t>
                      </a:r>
                      <a:endParaRPr sz="1100" b="1" u="none" strike="noStrike" cap="none" dirty="0">
                        <a:solidFill>
                          <a:srgbClr val="1F1F1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0" u="none" strike="noStrike" cap="none">
                          <a:solidFill>
                            <a:srgbClr val="1F1F1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終端客戶 (如 AWS )</a:t>
                      </a:r>
                      <a:endParaRPr sz="1100" b="0" u="none" strike="noStrike" cap="none">
                        <a:solidFill>
                          <a:srgbClr val="1F1F1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0" u="none" strike="noStrike" cap="none">
                          <a:solidFill>
                            <a:srgbClr val="1F1F1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晶片擁有者/需求方</a:t>
                      </a:r>
                      <a:endParaRPr sz="1100" b="0" u="none" strike="noStrike" cap="none">
                        <a:solidFill>
                          <a:srgbClr val="1F1F1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0" u="none" strike="noStrike" cap="none">
                          <a:solidFill>
                            <a:srgbClr val="1F1F1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提供晶片規格與架構，支付 NRE 費用和 Turnkey 採購費用。</a:t>
                      </a:r>
                      <a:endParaRPr sz="1100" b="0" u="none" strike="noStrike" cap="none">
                        <a:solidFill>
                          <a:srgbClr val="1F1F1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0" u="none" strike="noStrike" cap="none">
                          <a:solidFill>
                            <a:srgbClr val="1F1F1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世芯電子</a:t>
                      </a:r>
                      <a:endParaRPr sz="1100" b="0" u="none" strike="noStrike" cap="none">
                        <a:solidFill>
                          <a:srgbClr val="1F1F1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0" u="none" strike="noStrike" cap="none">
                          <a:solidFill>
                            <a:srgbClr val="1F1F1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ASIC 設計服務商/供應鏈管理者</a:t>
                      </a:r>
                      <a:endParaRPr sz="1100" b="0" u="none" strike="noStrike" cap="none">
                        <a:solidFill>
                          <a:srgbClr val="1F1F1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0" u="none" strike="noStrike" cap="none">
                          <a:solidFill>
                            <a:srgbClr val="1F1F1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負責晶片設計、向台積電下單、管理封裝測試、向客戶出貨成品晶片。</a:t>
                      </a:r>
                      <a:endParaRPr sz="1100" b="0" u="none" strike="noStrike" cap="none">
                        <a:solidFill>
                          <a:srgbClr val="1F1F1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0" u="none" strike="noStrike" cap="none" dirty="0">
                          <a:solidFill>
                            <a:srgbClr val="1F1F1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台積電 </a:t>
                      </a:r>
                      <a:endParaRPr sz="1100" b="0" u="none" strike="noStrike" cap="none" dirty="0">
                        <a:solidFill>
                          <a:srgbClr val="1F1F1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0" u="none" strike="noStrike" cap="none" dirty="0">
                          <a:solidFill>
                            <a:srgbClr val="1F1F1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晶圓代工廠 </a:t>
                      </a:r>
                      <a:endParaRPr sz="1100" b="0" u="none" strike="noStrike" cap="none" dirty="0">
                        <a:solidFill>
                          <a:srgbClr val="1F1F1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0" u="none" strike="noStrike" cap="none" dirty="0">
                          <a:solidFill>
                            <a:srgbClr val="1F1F1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專注於執行晶圓製造 (3nm/5nm) 的生產者。</a:t>
                      </a:r>
                      <a:endParaRPr sz="1100" b="0" u="none" strike="noStrike" cap="none" dirty="0">
                        <a:solidFill>
                          <a:srgbClr val="1F1F1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3" name="Google Shape;343;g3a60a63c625_10_28"/>
          <p:cNvSpPr/>
          <p:nvPr/>
        </p:nvSpPr>
        <p:spPr>
          <a:xfrm>
            <a:off x="385150" y="2697855"/>
            <a:ext cx="8254200" cy="330000"/>
          </a:xfrm>
          <a:prstGeom prst="rect">
            <a:avLst/>
          </a:prstGeom>
          <a:solidFill>
            <a:srgbClr val="F1A63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世芯-KY 協助 CSP 客戶 進行後段設計與 co-design</a:t>
            </a:r>
            <a:endParaRPr sz="1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4" name="Google Shape;344;g3a60a63c625_10_28"/>
          <p:cNvSpPr txBox="1"/>
          <p:nvPr/>
        </p:nvSpPr>
        <p:spPr>
          <a:xfrm>
            <a:off x="385150" y="946762"/>
            <a:ext cx="8266275" cy="167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l"/>
            </a:pP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世芯角色介於大型雲端/系統客戶與台積電先進製程、先進封裝之間。承接雲端客戶自研 AI 晶片、降低對單一 GPU 供應商依賴的長期趨勢，以 N3 為量產主戰場並前瞻布局 N2 與 3DIC/CoWoS 等先進封裝，承接雲端服務商與系統廠自研加速器與客製化運算晶片的需求，成為能把下一代 AI 算力需求實際落地為晶片與系統的關鍵設計樞紐。</a:t>
            </a:r>
            <a:endParaRPr lang="en-US" altLang="zh-TW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l"/>
            </a:pPr>
            <a:r>
              <a:rPr lang="zh-TW" sz="1400" b="0" i="0" u="none" strike="noStrike" cap="none" dirty="0">
                <a:solidFill>
                  <a:srgbClr val="1F1F1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受惠</a:t>
            </a:r>
            <a:r>
              <a:rPr lang="zh-TW" sz="1400" b="0" i="0" u="none" strike="noStrike" cap="none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台積電「CSP 產能優先」策略：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台積電執行 CSP 產能優先策略，將有限的先進製程與 CoWoS 產能，優先撥給如 AWS 這類頂級雲端客戶。</a:t>
            </a:r>
            <a:r>
              <a:rPr lang="zh-TW" sz="1400" b="0" i="0" u="none" strike="noStrike" cap="none" dirty="0">
                <a:solidFill>
                  <a:srgbClr val="1F1F1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藉由與這些頂級客戶（如 AWS Trainium 3 專案）的深度綁定，間接獲得了台積電的產能優先權。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5" name="Google Shape;345;g3a60a63c625_10_28"/>
          <p:cNvGrpSpPr/>
          <p:nvPr/>
        </p:nvGrpSpPr>
        <p:grpSpPr>
          <a:xfrm>
            <a:off x="-164" y="0"/>
            <a:ext cx="9144164" cy="330000"/>
            <a:chOff x="-5459" y="0"/>
            <a:chExt cx="9144164" cy="330000"/>
          </a:xfrm>
        </p:grpSpPr>
        <p:sp>
          <p:nvSpPr>
            <p:cNvPr id="346" name="Google Shape;346;g3a60a63c625_10_28"/>
            <p:cNvSpPr/>
            <p:nvPr/>
          </p:nvSpPr>
          <p:spPr>
            <a:xfrm>
              <a:off x="-545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EBAA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EBAA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g3a60a63c625_10_28"/>
            <p:cNvSpPr/>
            <p:nvPr/>
          </p:nvSpPr>
          <p:spPr>
            <a:xfrm>
              <a:off x="3434054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C9B4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g3a60a63c625_10_28"/>
            <p:cNvSpPr/>
            <p:nvPr/>
          </p:nvSpPr>
          <p:spPr>
            <a:xfrm>
              <a:off x="4580541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rgbClr val="C9B4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g3a60a63c625_10_28"/>
            <p:cNvSpPr/>
            <p:nvPr/>
          </p:nvSpPr>
          <p:spPr>
            <a:xfrm>
              <a:off x="572702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g3a60a63c625_10_28"/>
            <p:cNvSpPr/>
            <p:nvPr/>
          </p:nvSpPr>
          <p:spPr>
            <a:xfrm>
              <a:off x="6873517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3a60a63c625_10_28"/>
            <p:cNvSpPr/>
            <p:nvPr/>
          </p:nvSpPr>
          <p:spPr>
            <a:xfrm>
              <a:off x="8020005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3a60a63c625_10_28"/>
            <p:cNvSpPr/>
            <p:nvPr/>
          </p:nvSpPr>
          <p:spPr>
            <a:xfrm>
              <a:off x="2287550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rgbClr val="C9B4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g3a60a63c625_10_28"/>
            <p:cNvSpPr/>
            <p:nvPr/>
          </p:nvSpPr>
          <p:spPr>
            <a:xfrm>
              <a:off x="1141062" y="0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a847d0c546_1_537"/>
          <p:cNvSpPr/>
          <p:nvPr/>
        </p:nvSpPr>
        <p:spPr>
          <a:xfrm>
            <a:off x="6265150" y="324000"/>
            <a:ext cx="303900" cy="4417500"/>
          </a:xfrm>
          <a:prstGeom prst="roundRect">
            <a:avLst>
              <a:gd name="adj" fmla="val 50000"/>
            </a:avLst>
          </a:prstGeom>
          <a:solidFill>
            <a:srgbClr val="F5E5D4"/>
          </a:solidFill>
          <a:ln>
            <a:noFill/>
          </a:ln>
          <a:effectLst>
            <a:outerShdw blurRad="241300" dist="38100" sx="102000" sy="1020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a847d0c546_1_537"/>
          <p:cNvSpPr/>
          <p:nvPr/>
        </p:nvSpPr>
        <p:spPr>
          <a:xfrm>
            <a:off x="58" y="0"/>
            <a:ext cx="5790300" cy="5143500"/>
          </a:xfrm>
          <a:prstGeom prst="rect">
            <a:avLst/>
          </a:prstGeom>
          <a:solidFill>
            <a:srgbClr val="F1A63B"/>
          </a:solidFill>
          <a:ln>
            <a:noFill/>
          </a:ln>
          <a:effectLst>
            <a:outerShdw blurRad="469900" dist="38100" algn="l" rotWithShape="0">
              <a:srgbClr val="000000">
                <a:alpha val="3804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61" name="Google Shape;361;g3a847d0c546_1_5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a847d0c546_1_537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  <p:sp>
        <p:nvSpPr>
          <p:cNvPr id="363" name="Google Shape;363;g3a847d0c546_1_537"/>
          <p:cNvSpPr txBox="1"/>
          <p:nvPr/>
        </p:nvSpPr>
        <p:spPr>
          <a:xfrm>
            <a:off x="6862496" y="703162"/>
            <a:ext cx="354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a847d0c546_1_537"/>
          <p:cNvSpPr/>
          <p:nvPr/>
        </p:nvSpPr>
        <p:spPr>
          <a:xfrm>
            <a:off x="6265138" y="987850"/>
            <a:ext cx="303900" cy="1234800"/>
          </a:xfrm>
          <a:prstGeom prst="roundRect">
            <a:avLst>
              <a:gd name="adj" fmla="val 50000"/>
            </a:avLst>
          </a:prstGeom>
          <a:solidFill>
            <a:srgbClr val="7A645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a847d0c546_1_537"/>
          <p:cNvSpPr txBox="1"/>
          <p:nvPr/>
        </p:nvSpPr>
        <p:spPr>
          <a:xfrm>
            <a:off x="1440952" y="2260051"/>
            <a:ext cx="29085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zh-TW" sz="3600" b="1">
                <a:solidFill>
                  <a:srgbClr val="42210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產業概況</a:t>
            </a:r>
            <a:endParaRPr sz="3600" b="0" i="0" u="none" strike="noStrike" cap="none">
              <a:solidFill>
                <a:srgbClr val="42210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a847d0c546_1_537"/>
          <p:cNvSpPr txBox="1"/>
          <p:nvPr/>
        </p:nvSpPr>
        <p:spPr>
          <a:xfrm>
            <a:off x="7097525" y="324000"/>
            <a:ext cx="1369500" cy="4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個股介紹</a:t>
            </a:r>
            <a:r>
              <a:rPr lang="zh-TW" sz="2000" b="1" i="0" u="none" strike="noStrike" cap="none">
                <a:solidFill>
                  <a:srgbClr val="42210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產業概況</a:t>
            </a:r>
            <a:endParaRPr sz="2000" b="1" i="0" u="none" strike="noStrike" cap="none">
              <a:solidFill>
                <a:srgbClr val="42210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成長動能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潛在風險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財務模型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附錄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g3a60a63c625_14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3" name="Google Shape;373;g3a60a63c625_14_0"/>
          <p:cNvCxnSpPr/>
          <p:nvPr/>
        </p:nvCxnSpPr>
        <p:spPr>
          <a:xfrm>
            <a:off x="356693" y="4834711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4" name="Google Shape;374;g3a60a63c625_14_0"/>
          <p:cNvSpPr txBox="1"/>
          <p:nvPr/>
        </p:nvSpPr>
        <p:spPr>
          <a:xfrm>
            <a:off x="272774" y="4884241"/>
            <a:ext cx="43152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資料來源：產業價值鏈資訊平台、自行整理</a:t>
            </a:r>
            <a:endParaRPr sz="11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75" name="Google Shape;375;g3a60a63c625_14_0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>
                <a:latin typeface="Microsoft JhengHei"/>
                <a:ea typeface="Microsoft JhengHei"/>
                <a:cs typeface="Microsoft JhengHei"/>
                <a:sym typeface="Microsoft JhengHei"/>
              </a:rPr>
              <a:t>9</a:t>
            </a:fld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376" name="Google Shape;376;g3a60a63c625_14_0"/>
          <p:cNvGrpSpPr/>
          <p:nvPr/>
        </p:nvGrpSpPr>
        <p:grpSpPr>
          <a:xfrm>
            <a:off x="242301" y="434035"/>
            <a:ext cx="484808" cy="484808"/>
            <a:chOff x="1628775" y="1381125"/>
            <a:chExt cx="1352700" cy="1352700"/>
          </a:xfrm>
        </p:grpSpPr>
        <p:sp>
          <p:nvSpPr>
            <p:cNvPr id="377" name="Google Shape;377;g3a60a63c625_14_0"/>
            <p:cNvSpPr/>
            <p:nvPr/>
          </p:nvSpPr>
          <p:spPr>
            <a:xfrm>
              <a:off x="1628775" y="1381125"/>
              <a:ext cx="1352700" cy="1352700"/>
            </a:xfrm>
            <a:prstGeom prst="ellipse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pic>
          <p:nvPicPr>
            <p:cNvPr id="378" name="Google Shape;378;g3a60a63c625_14_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60962" y="1929413"/>
              <a:ext cx="1134638" cy="3094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9" name="Google Shape;379;g3a60a63c625_14_0"/>
          <p:cNvSpPr txBox="1"/>
          <p:nvPr/>
        </p:nvSpPr>
        <p:spPr>
          <a:xfrm>
            <a:off x="727101" y="503338"/>
            <a:ext cx="7946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ASIC 半導體供應鏈</a:t>
            </a:r>
            <a:endParaRPr sz="18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0" name="Google Shape;380;g3a60a63c625_14_0"/>
          <p:cNvSpPr/>
          <p:nvPr/>
        </p:nvSpPr>
        <p:spPr>
          <a:xfrm>
            <a:off x="133981" y="1020537"/>
            <a:ext cx="2887500" cy="473400"/>
          </a:xfrm>
          <a:prstGeom prst="chevron">
            <a:avLst>
              <a:gd name="adj" fmla="val 50000"/>
            </a:avLst>
          </a:prstGeom>
          <a:solidFill>
            <a:srgbClr val="F1A63B"/>
          </a:solidFill>
          <a:ln w="25400" cap="flat" cmpd="sng">
            <a:solidFill>
              <a:srgbClr val="F1A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上游 設計 &amp; IP</a:t>
            </a:r>
            <a:endParaRPr sz="1400" b="1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1" name="Google Shape;381;g3a60a63c625_14_0"/>
          <p:cNvSpPr/>
          <p:nvPr/>
        </p:nvSpPr>
        <p:spPr>
          <a:xfrm>
            <a:off x="2906487" y="1020537"/>
            <a:ext cx="3518700" cy="473400"/>
          </a:xfrm>
          <a:prstGeom prst="chevron">
            <a:avLst>
              <a:gd name="adj" fmla="val 50000"/>
            </a:avLst>
          </a:prstGeom>
          <a:solidFill>
            <a:srgbClr val="F1A63B"/>
          </a:solidFill>
          <a:ln w="25400" cap="flat" cmpd="sng">
            <a:solidFill>
              <a:srgbClr val="F1A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中游 製造 &amp; 代工 &amp; 封測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2" name="Google Shape;382;g3a60a63c625_14_0"/>
          <p:cNvSpPr/>
          <p:nvPr/>
        </p:nvSpPr>
        <p:spPr>
          <a:xfrm>
            <a:off x="6302829" y="1020537"/>
            <a:ext cx="2707200" cy="473400"/>
          </a:xfrm>
          <a:prstGeom prst="chevron">
            <a:avLst>
              <a:gd name="adj" fmla="val 50000"/>
            </a:avLst>
          </a:prstGeom>
          <a:solidFill>
            <a:srgbClr val="F1A63B"/>
          </a:solidFill>
          <a:ln w="25400" cap="flat" cmpd="sng">
            <a:solidFill>
              <a:srgbClr val="F1A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下游 應用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3" name="Google Shape;383;g3a60a63c625_14_0"/>
          <p:cNvSpPr/>
          <p:nvPr/>
        </p:nvSpPr>
        <p:spPr>
          <a:xfrm>
            <a:off x="475224" y="2283950"/>
            <a:ext cx="1152000" cy="273900"/>
          </a:xfrm>
          <a:prstGeom prst="roundRect">
            <a:avLst>
              <a:gd name="adj" fmla="val 16667"/>
            </a:avLst>
          </a:prstGeom>
          <a:solidFill>
            <a:srgbClr val="F1A63B"/>
          </a:solidFill>
          <a:ln w="28575" cap="flat" cmpd="sng">
            <a:solidFill>
              <a:srgbClr val="F1A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IP &amp; EDA</a:t>
            </a:r>
            <a:endParaRPr sz="1400" b="1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4" name="Google Shape;384;g3a60a63c625_14_0"/>
          <p:cNvSpPr txBox="1"/>
          <p:nvPr/>
        </p:nvSpPr>
        <p:spPr>
          <a:xfrm>
            <a:off x="406353" y="2615173"/>
            <a:ext cx="2024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833C0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ARM、SNPS、CDNS</a:t>
            </a:r>
            <a:endParaRPr sz="1400" b="1" i="0" u="none" strike="noStrike" cap="none">
              <a:solidFill>
                <a:srgbClr val="833C0B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5" name="Google Shape;385;g3a60a63c625_14_0"/>
          <p:cNvSpPr/>
          <p:nvPr/>
        </p:nvSpPr>
        <p:spPr>
          <a:xfrm>
            <a:off x="438135" y="1659867"/>
            <a:ext cx="2024700" cy="43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1A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IC 設計工具 &amp; 服務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6" name="Google Shape;386;g3a60a63c625_14_0"/>
          <p:cNvSpPr/>
          <p:nvPr/>
        </p:nvSpPr>
        <p:spPr>
          <a:xfrm>
            <a:off x="453972" y="3709421"/>
            <a:ext cx="2024700" cy="43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1A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IC 設計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7" name="Google Shape;387;g3a60a63c625_14_0"/>
          <p:cNvSpPr txBox="1"/>
          <p:nvPr/>
        </p:nvSpPr>
        <p:spPr>
          <a:xfrm>
            <a:off x="406352" y="3351710"/>
            <a:ext cx="2024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833C0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世芯-KY、創意、智原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8" name="Google Shape;388;g3a60a63c625_14_0"/>
          <p:cNvSpPr txBox="1"/>
          <p:nvPr/>
        </p:nvSpPr>
        <p:spPr>
          <a:xfrm>
            <a:off x="410699" y="4230001"/>
            <a:ext cx="2142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833C0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AVGO、MRVL、聯發科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9" name="Google Shape;389;g3a60a63c625_14_0"/>
          <p:cNvSpPr/>
          <p:nvPr/>
        </p:nvSpPr>
        <p:spPr>
          <a:xfrm>
            <a:off x="2553419" y="1986600"/>
            <a:ext cx="124500" cy="19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1A63B"/>
          </a:solidFill>
          <a:ln w="9525" cap="flat" cmpd="sng">
            <a:solidFill>
              <a:srgbClr val="F1A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0" name="Google Shape;390;g3a60a63c625_14_0"/>
          <p:cNvSpPr/>
          <p:nvPr/>
        </p:nvSpPr>
        <p:spPr>
          <a:xfrm>
            <a:off x="475229" y="3016991"/>
            <a:ext cx="1152000" cy="244800"/>
          </a:xfrm>
          <a:prstGeom prst="roundRect">
            <a:avLst>
              <a:gd name="adj" fmla="val 16667"/>
            </a:avLst>
          </a:prstGeom>
          <a:solidFill>
            <a:srgbClr val="F1A63B"/>
          </a:solidFill>
          <a:ln w="28575" cap="flat" cmpd="sng">
            <a:solidFill>
              <a:srgbClr val="F1A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IC 設計服務</a:t>
            </a:r>
            <a:endParaRPr sz="1600" b="1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1" name="Google Shape;391;g3a60a63c625_14_0"/>
          <p:cNvSpPr/>
          <p:nvPr/>
        </p:nvSpPr>
        <p:spPr>
          <a:xfrm>
            <a:off x="3165431" y="1659865"/>
            <a:ext cx="2832900" cy="43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rgbClr val="F1A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晶圓製造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2" name="Google Shape;392;g3a60a63c625_14_0"/>
          <p:cNvSpPr/>
          <p:nvPr/>
        </p:nvSpPr>
        <p:spPr>
          <a:xfrm>
            <a:off x="3182375" y="2273100"/>
            <a:ext cx="1878600" cy="244800"/>
          </a:xfrm>
          <a:prstGeom prst="roundRect">
            <a:avLst>
              <a:gd name="adj" fmla="val 16667"/>
            </a:avLst>
          </a:prstGeom>
          <a:solidFill>
            <a:srgbClr val="F1A63B"/>
          </a:solidFill>
          <a:ln w="28575" cap="flat" cmpd="sng">
            <a:solidFill>
              <a:srgbClr val="F1A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Pure-Play Foundry</a:t>
            </a:r>
            <a:endParaRPr sz="1400" b="1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3" name="Google Shape;393;g3a60a63c625_14_0"/>
          <p:cNvSpPr txBox="1"/>
          <p:nvPr/>
        </p:nvSpPr>
        <p:spPr>
          <a:xfrm>
            <a:off x="3108900" y="2615175"/>
            <a:ext cx="2887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833C0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台積電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4" name="Google Shape;394;g3a60a63c625_14_0"/>
          <p:cNvSpPr/>
          <p:nvPr/>
        </p:nvSpPr>
        <p:spPr>
          <a:xfrm>
            <a:off x="3182652" y="2902691"/>
            <a:ext cx="1476000" cy="473399"/>
          </a:xfrm>
          <a:prstGeom prst="roundRect">
            <a:avLst>
              <a:gd name="adj" fmla="val 16667"/>
            </a:avLst>
          </a:prstGeom>
          <a:solidFill>
            <a:srgbClr val="F1A63B"/>
          </a:solidFill>
          <a:ln w="28575" cap="flat" cmpd="sng">
            <a:solidFill>
              <a:srgbClr val="F1A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IDM + Foundry</a:t>
            </a:r>
            <a:endParaRPr sz="1400" b="1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5" name="Google Shape;395;g3a60a63c625_14_0"/>
          <p:cNvSpPr txBox="1"/>
          <p:nvPr/>
        </p:nvSpPr>
        <p:spPr>
          <a:xfrm>
            <a:off x="3108902" y="3351710"/>
            <a:ext cx="2024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833C0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INTC、Samsung</a:t>
            </a:r>
            <a:endParaRPr sz="1400" b="1" i="0" u="none" strike="noStrike" cap="none">
              <a:solidFill>
                <a:srgbClr val="833C0B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6" name="Google Shape;396;g3a60a63c625_14_0"/>
          <p:cNvSpPr/>
          <p:nvPr/>
        </p:nvSpPr>
        <p:spPr>
          <a:xfrm>
            <a:off x="3182378" y="3709421"/>
            <a:ext cx="2816100" cy="43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1A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封裝測試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7" name="Google Shape;397;g3a60a63c625_14_0"/>
          <p:cNvSpPr txBox="1"/>
          <p:nvPr/>
        </p:nvSpPr>
        <p:spPr>
          <a:xfrm>
            <a:off x="3109977" y="4229990"/>
            <a:ext cx="405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833C0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日月光、力成科技、AMKR、台積電、</a:t>
            </a:r>
            <a:endParaRPr sz="1400" b="1" i="0" u="none" strike="noStrike" cap="none">
              <a:solidFill>
                <a:srgbClr val="833C0B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833C0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京元電、INTC</a:t>
            </a:r>
            <a:endParaRPr sz="1400" b="1" i="0" u="none" strike="noStrike" cap="none">
              <a:solidFill>
                <a:srgbClr val="833C0B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8" name="Google Shape;398;g3a60a63c625_14_0"/>
          <p:cNvSpPr/>
          <p:nvPr/>
        </p:nvSpPr>
        <p:spPr>
          <a:xfrm>
            <a:off x="6077837" y="1986600"/>
            <a:ext cx="124500" cy="19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1A63B"/>
          </a:solidFill>
          <a:ln w="9525" cap="flat" cmpd="sng">
            <a:solidFill>
              <a:srgbClr val="F1A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9" name="Google Shape;399;g3a60a63c625_14_0"/>
          <p:cNvSpPr/>
          <p:nvPr/>
        </p:nvSpPr>
        <p:spPr>
          <a:xfrm>
            <a:off x="6728436" y="1659866"/>
            <a:ext cx="1945200" cy="43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1A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數據中心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0" name="Google Shape;400;g3a60a63c625_14_0"/>
          <p:cNvSpPr txBox="1"/>
          <p:nvPr/>
        </p:nvSpPr>
        <p:spPr>
          <a:xfrm>
            <a:off x="6702172" y="2180600"/>
            <a:ext cx="246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833C0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CSPs</a:t>
            </a:r>
            <a:endParaRPr sz="1400" b="1" i="0" u="none" strike="noStrike" cap="none">
              <a:solidFill>
                <a:srgbClr val="833C0B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1" name="Google Shape;401;g3a60a63c625_14_0"/>
          <p:cNvSpPr/>
          <p:nvPr/>
        </p:nvSpPr>
        <p:spPr>
          <a:xfrm>
            <a:off x="6710506" y="2553071"/>
            <a:ext cx="1945200" cy="43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1A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網通 &amp; 5G</a:t>
            </a:r>
            <a:endParaRPr sz="1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2" name="Google Shape;402;g3a60a63c625_14_0"/>
          <p:cNvSpPr txBox="1"/>
          <p:nvPr/>
        </p:nvSpPr>
        <p:spPr>
          <a:xfrm>
            <a:off x="6728436" y="3105950"/>
            <a:ext cx="2646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833C0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CSCO</a:t>
            </a:r>
            <a:endParaRPr sz="1400" b="1" i="0" u="none" strike="noStrike" cap="none">
              <a:solidFill>
                <a:srgbClr val="833C0B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3" name="Google Shape;403;g3a60a63c625_14_0"/>
          <p:cNvSpPr/>
          <p:nvPr/>
        </p:nvSpPr>
        <p:spPr>
          <a:xfrm>
            <a:off x="6702186" y="3445541"/>
            <a:ext cx="1945200" cy="43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1A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消費性電子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4" name="Google Shape;404;g3a60a63c625_14_0"/>
          <p:cNvSpPr/>
          <p:nvPr/>
        </p:nvSpPr>
        <p:spPr>
          <a:xfrm>
            <a:off x="6702186" y="4031290"/>
            <a:ext cx="1945200" cy="43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F1A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車用電子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5" name="Google Shape;405;g3a60a63c625_14_0"/>
          <p:cNvSpPr/>
          <p:nvPr/>
        </p:nvSpPr>
        <p:spPr>
          <a:xfrm>
            <a:off x="2277793" y="2386594"/>
            <a:ext cx="117000" cy="875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1A63B"/>
          </a:solidFill>
          <a:ln w="9525" cap="flat" cmpd="sng">
            <a:solidFill>
              <a:srgbClr val="F1A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406" name="Google Shape;406;g3a60a63c625_14_0"/>
          <p:cNvGrpSpPr/>
          <p:nvPr/>
        </p:nvGrpSpPr>
        <p:grpSpPr>
          <a:xfrm>
            <a:off x="-164" y="0"/>
            <a:ext cx="9144164" cy="330000"/>
            <a:chOff x="-5459" y="0"/>
            <a:chExt cx="9144164" cy="330000"/>
          </a:xfrm>
        </p:grpSpPr>
        <p:sp>
          <p:nvSpPr>
            <p:cNvPr id="407" name="Google Shape;407;g3a60a63c625_14_0"/>
            <p:cNvSpPr/>
            <p:nvPr/>
          </p:nvSpPr>
          <p:spPr>
            <a:xfrm>
              <a:off x="-545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EBAA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EBAA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08" name="Google Shape;408;g3a60a63c625_14_0"/>
            <p:cNvSpPr/>
            <p:nvPr/>
          </p:nvSpPr>
          <p:spPr>
            <a:xfrm>
              <a:off x="3434054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09" name="Google Shape;409;g3a60a63c625_14_0"/>
            <p:cNvSpPr/>
            <p:nvPr/>
          </p:nvSpPr>
          <p:spPr>
            <a:xfrm>
              <a:off x="4580541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10" name="Google Shape;410;g3a60a63c625_14_0"/>
            <p:cNvSpPr/>
            <p:nvPr/>
          </p:nvSpPr>
          <p:spPr>
            <a:xfrm>
              <a:off x="572702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11" name="Google Shape;411;g3a60a63c625_14_0"/>
            <p:cNvSpPr/>
            <p:nvPr/>
          </p:nvSpPr>
          <p:spPr>
            <a:xfrm>
              <a:off x="6873517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12" name="Google Shape;412;g3a60a63c625_14_0"/>
            <p:cNvSpPr/>
            <p:nvPr/>
          </p:nvSpPr>
          <p:spPr>
            <a:xfrm>
              <a:off x="8020005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13" name="Google Shape;413;g3a60a63c625_14_0"/>
            <p:cNvSpPr/>
            <p:nvPr/>
          </p:nvSpPr>
          <p:spPr>
            <a:xfrm>
              <a:off x="2287550" y="0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14" name="Google Shape;414;g3a60a63c625_14_0"/>
            <p:cNvSpPr/>
            <p:nvPr/>
          </p:nvSpPr>
          <p:spPr>
            <a:xfrm>
              <a:off x="1141062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a60a63c625_14_48"/>
          <p:cNvSpPr/>
          <p:nvPr/>
        </p:nvSpPr>
        <p:spPr>
          <a:xfrm>
            <a:off x="439700" y="964725"/>
            <a:ext cx="8254200" cy="1289400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25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l"/>
            </a:pP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ASIC 的硬體結構為特定任務量身定制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省去了許多針對通用計算的不必要硬體設計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其單位算力成本因此相於 GPU 更低。</a:t>
            </a:r>
            <a:endParaRPr lang="en-US" altLang="zh-TW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25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l"/>
            </a:pP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GPU 具備高度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28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日用性與強大的並行運算能力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特別適合需要高運算精度與複雜非線性運算的 AI 模型訓練。相較下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ASIC 為特定應用優化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能以更低能耗執行固定類型任務。由於 AI 推理端模型權重已固定、主要進行大量矩陣算且精度要求較低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ASIC 在推理場景中能更有效發揮能效優勢。</a:t>
            </a:r>
            <a:endParaRPr sz="1400" b="0" i="0" u="none" strike="noStrike" cap="none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421" name="Google Shape;421;g3a60a63c625_14_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2" name="Google Shape;422;g3a60a63c625_14_48"/>
          <p:cNvCxnSpPr/>
          <p:nvPr/>
        </p:nvCxnSpPr>
        <p:spPr>
          <a:xfrm>
            <a:off x="356693" y="4834711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3" name="Google Shape;423;g3a60a63c625_14_48"/>
          <p:cNvSpPr txBox="1"/>
          <p:nvPr/>
        </p:nvSpPr>
        <p:spPr>
          <a:xfrm>
            <a:off x="272775" y="4884250"/>
            <a:ext cx="73737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資料來源：Morgan Stanley research、 </a:t>
            </a:r>
            <a:r>
              <a:rPr lang="zh-TW" sz="1100" b="1" u="none" strike="noStrike" cap="non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Fair Comparison between ML Hardware</a:t>
            </a:r>
            <a:r>
              <a:rPr lang="zh-TW" sz="1100" b="1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 by </a:t>
            </a:r>
            <a:r>
              <a:rPr lang="zh-TW" sz="1100" b="1" u="none" strike="noStrike" cap="non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Mahmoud Khairy</a:t>
            </a:r>
            <a:endParaRPr sz="1100" b="1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24" name="Google Shape;424;g3a60a63c625_14_48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  <p:grpSp>
        <p:nvGrpSpPr>
          <p:cNvPr id="425" name="Google Shape;425;g3a60a63c625_14_48"/>
          <p:cNvGrpSpPr/>
          <p:nvPr/>
        </p:nvGrpSpPr>
        <p:grpSpPr>
          <a:xfrm>
            <a:off x="242301" y="434035"/>
            <a:ext cx="484808" cy="484808"/>
            <a:chOff x="1628775" y="1381125"/>
            <a:chExt cx="1352700" cy="1352700"/>
          </a:xfrm>
        </p:grpSpPr>
        <p:sp>
          <p:nvSpPr>
            <p:cNvPr id="426" name="Google Shape;426;g3a60a63c625_14_48"/>
            <p:cNvSpPr/>
            <p:nvPr/>
          </p:nvSpPr>
          <p:spPr>
            <a:xfrm>
              <a:off x="1628775" y="1381125"/>
              <a:ext cx="1352700" cy="1352700"/>
            </a:xfrm>
            <a:prstGeom prst="ellipse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27" name="Google Shape;427;g3a60a63c625_14_4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760962" y="1929413"/>
              <a:ext cx="1134638" cy="3094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8" name="Google Shape;428;g3a60a63c625_14_48"/>
          <p:cNvSpPr txBox="1"/>
          <p:nvPr/>
        </p:nvSpPr>
        <p:spPr>
          <a:xfrm>
            <a:off x="727101" y="503338"/>
            <a:ext cx="7946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ASIC 對專門設計之效用有優勢，GPU則在總體算力佔優</a:t>
            </a:r>
            <a:endParaRPr sz="18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29" name="Google Shape;429;g3a60a63c625_14_48"/>
          <p:cNvSpPr/>
          <p:nvPr/>
        </p:nvSpPr>
        <p:spPr>
          <a:xfrm>
            <a:off x="439690" y="2316439"/>
            <a:ext cx="3960900" cy="323700"/>
          </a:xfrm>
          <a:prstGeom prst="rect">
            <a:avLst/>
          </a:prstGeom>
          <a:solidFill>
            <a:srgbClr val="F1A539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市面主流ASIC、GPU 算力成本對比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a60a63c625_14_48"/>
          <p:cNvSpPr/>
          <p:nvPr/>
        </p:nvSpPr>
        <p:spPr>
          <a:xfrm>
            <a:off x="4587909" y="2316445"/>
            <a:ext cx="3960900" cy="323700"/>
          </a:xfrm>
          <a:prstGeom prst="rect">
            <a:avLst/>
          </a:prstGeom>
          <a:solidFill>
            <a:srgbClr val="F1A539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ASIC、 GPU 之適用情景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1" name="Google Shape;431;g3a60a63c625_14_4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9699" y="2695250"/>
            <a:ext cx="3960900" cy="2084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2" name="Google Shape;432;g3a60a63c625_14_48"/>
          <p:cNvGraphicFramePr/>
          <p:nvPr>
            <p:extLst>
              <p:ext uri="{D42A27DB-BD31-4B8C-83A1-F6EECF244321}">
                <p14:modId xmlns:p14="http://schemas.microsoft.com/office/powerpoint/2010/main" val="3637055395"/>
              </p:ext>
            </p:extLst>
          </p:nvPr>
        </p:nvGraphicFramePr>
        <p:xfrm>
          <a:off x="4587909" y="2653804"/>
          <a:ext cx="3960900" cy="2084349"/>
        </p:xfrm>
        <a:graphic>
          <a:graphicData uri="http://schemas.openxmlformats.org/drawingml/2006/table">
            <a:tbl>
              <a:tblPr firstRow="1" bandRow="1">
                <a:noFill/>
                <a:tableStyleId>{F1E5D2EE-1532-4578-90B8-D0C90720EED2}</a:tableStyleId>
              </a:tblPr>
              <a:tblGrid>
                <a:gridCol w="198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b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GPU 更適用於訓練</a:t>
                      </a:r>
                      <a:endParaRPr sz="1100" b="0" u="none" strike="noStrike" cap="none"/>
                    </a:p>
                  </a:txBody>
                  <a:tcPr marL="68600" marR="68600" marT="36000" marB="36000" anchor="ctr">
                    <a:solidFill>
                      <a:srgbClr val="F1A5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100" b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ASIC 更適用於推理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6000" marB="36000" anchor="ctr">
                    <a:solidFill>
                      <a:srgbClr val="F1A5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3099">
                <a:tc>
                  <a:txBody>
                    <a:bodyPr/>
                    <a:lstStyle/>
                    <a:p>
                      <a:pPr marL="24130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Wingdings" panose="05000000000000000000" pitchFamily="2" charset="2"/>
                        <a:buChar char="l"/>
                      </a:pPr>
                      <a:endParaRPr sz="1100" b="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Wingdings" panose="05000000000000000000" pitchFamily="2" charset="2"/>
                        <a:buChar char="l"/>
                      </a:pPr>
                      <a:r>
                        <a:rPr lang="zh-TW" sz="1100" b="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AI 訓練過程需要處理大量的資料與複雜的計算，對晶片的運算能力以及平行處理能力要求高。</a:t>
                      </a:r>
                      <a:endParaRPr lang="en-US" altLang="zh-TW" sz="1100" b="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Wingdings" panose="05000000000000000000" pitchFamily="2" charset="2"/>
                        <a:buChar char="l"/>
                      </a:pPr>
                      <a:endParaRPr sz="1100" b="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Wingdings" panose="05000000000000000000" pitchFamily="2" charset="2"/>
                        <a:buChar char="l"/>
                      </a:pPr>
                      <a:r>
                        <a:rPr lang="zh-TW" sz="1100" b="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而</a:t>
                      </a:r>
                      <a:r>
                        <a:rPr lang="zh-TW" altLang="en-US" sz="1100" b="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sz="1100" b="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GPU 對於並行運算能力較優；高度靈活性也使其更適合這種頻繁的調試與反覆迭代。</a:t>
                      </a:r>
                      <a:endParaRPr sz="1100" b="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6000" marB="36000"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Wingdings" panose="05000000000000000000" pitchFamily="2" charset="2"/>
                        <a:buChar char="l"/>
                      </a:pPr>
                      <a:endParaRPr sz="1100" b="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Wingdings" panose="05000000000000000000" pitchFamily="2" charset="2"/>
                        <a:buChar char="l"/>
                      </a:pPr>
                      <a:r>
                        <a:rPr lang="zh-TW" sz="1100" b="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在推理階段，需要對輸入的資料進行快速的預測與分類。</a:t>
                      </a:r>
                      <a:endParaRPr sz="1100" b="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Wingdings" panose="05000000000000000000" pitchFamily="2" charset="2"/>
                        <a:buChar char="l"/>
                      </a:pPr>
                      <a:r>
                        <a:rPr lang="zh-TW" sz="1100" b="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ASIC 高度客製化的特性針對推理任務進行最佳化，以較低的功耗實現高速的推理運算。因此</a:t>
                      </a:r>
                      <a:r>
                        <a:rPr lang="zh-TW" altLang="en-US" sz="1100" b="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sz="1100" b="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ASIC 的成本優勢更加明顯，有效降低企業的營運成本。</a:t>
                      </a:r>
                      <a:endParaRPr sz="1100" b="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6000" marB="36000"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33" name="Google Shape;433;g3a60a63c625_14_48"/>
          <p:cNvGrpSpPr/>
          <p:nvPr/>
        </p:nvGrpSpPr>
        <p:grpSpPr>
          <a:xfrm>
            <a:off x="-164" y="0"/>
            <a:ext cx="9144164" cy="330000"/>
            <a:chOff x="-5459" y="0"/>
            <a:chExt cx="9144164" cy="330000"/>
          </a:xfrm>
        </p:grpSpPr>
        <p:sp>
          <p:nvSpPr>
            <p:cNvPr id="434" name="Google Shape;434;g3a60a63c625_14_48"/>
            <p:cNvSpPr/>
            <p:nvPr/>
          </p:nvSpPr>
          <p:spPr>
            <a:xfrm>
              <a:off x="-545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EBAA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EBAA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35" name="Google Shape;435;g3a60a63c625_14_48"/>
            <p:cNvSpPr/>
            <p:nvPr/>
          </p:nvSpPr>
          <p:spPr>
            <a:xfrm>
              <a:off x="3434054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36" name="Google Shape;436;g3a60a63c625_14_48"/>
            <p:cNvSpPr/>
            <p:nvPr/>
          </p:nvSpPr>
          <p:spPr>
            <a:xfrm>
              <a:off x="4580541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37" name="Google Shape;437;g3a60a63c625_14_48"/>
            <p:cNvSpPr/>
            <p:nvPr/>
          </p:nvSpPr>
          <p:spPr>
            <a:xfrm>
              <a:off x="572702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38" name="Google Shape;438;g3a60a63c625_14_48"/>
            <p:cNvSpPr/>
            <p:nvPr/>
          </p:nvSpPr>
          <p:spPr>
            <a:xfrm>
              <a:off x="6873517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39" name="Google Shape;439;g3a60a63c625_14_48"/>
            <p:cNvSpPr/>
            <p:nvPr/>
          </p:nvSpPr>
          <p:spPr>
            <a:xfrm>
              <a:off x="8020005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40" name="Google Shape;440;g3a60a63c625_14_48"/>
            <p:cNvSpPr/>
            <p:nvPr/>
          </p:nvSpPr>
          <p:spPr>
            <a:xfrm>
              <a:off x="2287550" y="0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41" name="Google Shape;441;g3a60a63c625_14_48"/>
            <p:cNvSpPr/>
            <p:nvPr/>
          </p:nvSpPr>
          <p:spPr>
            <a:xfrm>
              <a:off x="1141062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a60a63c625_14_74"/>
          <p:cNvSpPr/>
          <p:nvPr/>
        </p:nvSpPr>
        <p:spPr>
          <a:xfrm>
            <a:off x="439700" y="952175"/>
            <a:ext cx="8254200" cy="1521600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a60a63c625_14_74"/>
          <p:cNvSpPr txBox="1"/>
          <p:nvPr/>
        </p:nvSpPr>
        <p:spPr>
          <a:xfrm>
            <a:off x="356700" y="1052650"/>
            <a:ext cx="8347500" cy="1361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25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l"/>
            </a:pPr>
            <a:r>
              <a:rPr lang="zh-TW" sz="1400" b="0" i="0" u="none" strike="noStrike" cap="none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雲端 AI ASIC 市場成長主要受 CSP CAPEX 快速增加所帶動，四大 CSP 業者為提升 AI 訓練與推論效率，積極擴建資料中心並導入更多專用晶片，同時也希望降低對 NVIDIA GPU 的依賴、重新掌握運算晶片的成本與供應主導權。</a:t>
            </a:r>
            <a:endParaRPr lang="en-US" altLang="zh-TW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25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l"/>
            </a:pPr>
            <a:r>
              <a:rPr lang="zh-TW" sz="1400" b="0" i="0" u="none" strike="noStrike" cap="none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根據預期，雲端 AI ASIC 市場規模將從 2024 年的 132 億美元提升至 2030 年的 500 億美元， CAGR 約 25% ，屆時將佔整體雲端 AI 晶片市場約 15%。目前 ASIC 產業仍以博通領先，預期世芯將在 2027 年市佔達 13%，位居第三。</a:t>
            </a:r>
            <a:endParaRPr sz="1400" b="0" i="0" u="none" strike="noStrike" cap="none" dirty="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449" name="Google Shape;449;g3a60a63c625_14_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0" name="Google Shape;450;g3a60a63c625_14_74"/>
          <p:cNvGrpSpPr/>
          <p:nvPr/>
        </p:nvGrpSpPr>
        <p:grpSpPr>
          <a:xfrm>
            <a:off x="242301" y="434035"/>
            <a:ext cx="484808" cy="484808"/>
            <a:chOff x="1628775" y="1381125"/>
            <a:chExt cx="1352700" cy="1352700"/>
          </a:xfrm>
        </p:grpSpPr>
        <p:sp>
          <p:nvSpPr>
            <p:cNvPr id="451" name="Google Shape;451;g3a60a63c625_14_74"/>
            <p:cNvSpPr/>
            <p:nvPr/>
          </p:nvSpPr>
          <p:spPr>
            <a:xfrm>
              <a:off x="1628775" y="1381125"/>
              <a:ext cx="1352700" cy="1352700"/>
            </a:xfrm>
            <a:prstGeom prst="ellipse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52" name="Google Shape;452;g3a60a63c625_14_7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60962" y="1929413"/>
              <a:ext cx="1134638" cy="3094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3" name="Google Shape;453;g3a60a63c625_14_74"/>
          <p:cNvSpPr txBox="1"/>
          <p:nvPr/>
        </p:nvSpPr>
        <p:spPr>
          <a:xfrm>
            <a:off x="727101" y="503338"/>
            <a:ext cx="7946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CSP資本支出持續上升，ASIC成長可期</a:t>
            </a:r>
            <a:endParaRPr sz="18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454" name="Google Shape;454;g3a60a63c625_14_74"/>
          <p:cNvCxnSpPr/>
          <p:nvPr/>
        </p:nvCxnSpPr>
        <p:spPr>
          <a:xfrm>
            <a:off x="356693" y="4834711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5" name="Google Shape;455;g3a60a63c625_14_74"/>
          <p:cNvSpPr txBox="1"/>
          <p:nvPr/>
        </p:nvSpPr>
        <p:spPr>
          <a:xfrm>
            <a:off x="272774" y="4884250"/>
            <a:ext cx="31059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資料來源：Morgan Stanley Research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a60a63c625_14_74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/>
              <a:t>11</a:t>
            </a:fld>
            <a:endParaRPr/>
          </a:p>
        </p:txBody>
      </p:sp>
      <p:sp>
        <p:nvSpPr>
          <p:cNvPr id="457" name="Google Shape;457;g3a60a63c625_14_74"/>
          <p:cNvSpPr/>
          <p:nvPr/>
        </p:nvSpPr>
        <p:spPr>
          <a:xfrm>
            <a:off x="439710" y="2521168"/>
            <a:ext cx="3944100" cy="330000"/>
          </a:xfrm>
          <a:prstGeom prst="rect">
            <a:avLst/>
          </a:prstGeom>
          <a:solidFill>
            <a:srgbClr val="F1A63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ASIC主要廠商市佔率預估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a60a63c625_14_74"/>
          <p:cNvSpPr/>
          <p:nvPr/>
        </p:nvSpPr>
        <p:spPr>
          <a:xfrm>
            <a:off x="4679066" y="2525643"/>
            <a:ext cx="4025400" cy="330000"/>
          </a:xfrm>
          <a:prstGeom prst="rect">
            <a:avLst/>
          </a:prstGeom>
          <a:solidFill>
            <a:srgbClr val="F1A5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ASIC市場規模預估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9" name="Google Shape;459;g3a60a63c625_14_74"/>
          <p:cNvPicPr preferRelativeResize="0"/>
          <p:nvPr/>
        </p:nvPicPr>
        <p:blipFill rotWithShape="1">
          <a:blip r:embed="rId5">
            <a:alphaModFix/>
          </a:blip>
          <a:srcRect l="13128" t="20940" r="13156" b="22185"/>
          <a:stretch/>
        </p:blipFill>
        <p:spPr>
          <a:xfrm>
            <a:off x="4679075" y="2855650"/>
            <a:ext cx="4025399" cy="192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g3a60a63c625_14_74" title="分數"/>
          <p:cNvPicPr preferRelativeResize="0"/>
          <p:nvPr/>
        </p:nvPicPr>
        <p:blipFill rotWithShape="1">
          <a:blip r:embed="rId6">
            <a:alphaModFix/>
          </a:blip>
          <a:srcRect t="11566"/>
          <a:stretch/>
        </p:blipFill>
        <p:spPr>
          <a:xfrm>
            <a:off x="439700" y="2905200"/>
            <a:ext cx="3944100" cy="1929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1" name="Google Shape;461;g3a60a63c625_14_74"/>
          <p:cNvGrpSpPr/>
          <p:nvPr/>
        </p:nvGrpSpPr>
        <p:grpSpPr>
          <a:xfrm>
            <a:off x="-164" y="0"/>
            <a:ext cx="9144164" cy="330000"/>
            <a:chOff x="-5459" y="0"/>
            <a:chExt cx="9144164" cy="330000"/>
          </a:xfrm>
        </p:grpSpPr>
        <p:sp>
          <p:nvSpPr>
            <p:cNvPr id="462" name="Google Shape;462;g3a60a63c625_14_74"/>
            <p:cNvSpPr/>
            <p:nvPr/>
          </p:nvSpPr>
          <p:spPr>
            <a:xfrm>
              <a:off x="-545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EBAA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EBAA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63" name="Google Shape;463;g3a60a63c625_14_74"/>
            <p:cNvSpPr/>
            <p:nvPr/>
          </p:nvSpPr>
          <p:spPr>
            <a:xfrm>
              <a:off x="3434054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64" name="Google Shape;464;g3a60a63c625_14_74"/>
            <p:cNvSpPr/>
            <p:nvPr/>
          </p:nvSpPr>
          <p:spPr>
            <a:xfrm>
              <a:off x="4580541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65" name="Google Shape;465;g3a60a63c625_14_74"/>
            <p:cNvSpPr/>
            <p:nvPr/>
          </p:nvSpPr>
          <p:spPr>
            <a:xfrm>
              <a:off x="572702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66" name="Google Shape;466;g3a60a63c625_14_74"/>
            <p:cNvSpPr/>
            <p:nvPr/>
          </p:nvSpPr>
          <p:spPr>
            <a:xfrm>
              <a:off x="6873517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67" name="Google Shape;467;g3a60a63c625_14_74"/>
            <p:cNvSpPr/>
            <p:nvPr/>
          </p:nvSpPr>
          <p:spPr>
            <a:xfrm>
              <a:off x="8020005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68" name="Google Shape;468;g3a60a63c625_14_74"/>
            <p:cNvSpPr/>
            <p:nvPr/>
          </p:nvSpPr>
          <p:spPr>
            <a:xfrm>
              <a:off x="2287550" y="0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69" name="Google Shape;469;g3a60a63c625_14_74"/>
            <p:cNvSpPr/>
            <p:nvPr/>
          </p:nvSpPr>
          <p:spPr>
            <a:xfrm>
              <a:off x="1141062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a60a63c625_14_101"/>
          <p:cNvSpPr txBox="1"/>
          <p:nvPr/>
        </p:nvSpPr>
        <p:spPr>
          <a:xfrm>
            <a:off x="727101" y="503338"/>
            <a:ext cx="79464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NVLink Fusion 開放互連標準，加速 ASIC 生態擴張</a:t>
            </a:r>
            <a:endParaRPr sz="18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76" name="Google Shape;476;g3a60a63c625_14_101"/>
          <p:cNvSpPr/>
          <p:nvPr/>
        </p:nvSpPr>
        <p:spPr>
          <a:xfrm>
            <a:off x="356750" y="933375"/>
            <a:ext cx="8533500" cy="1344088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477" name="Google Shape;477;g3a60a63c625_14_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8" name="Google Shape;478;g3a60a63c625_14_101"/>
          <p:cNvCxnSpPr/>
          <p:nvPr/>
        </p:nvCxnSpPr>
        <p:spPr>
          <a:xfrm>
            <a:off x="356693" y="4834711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9" name="Google Shape;479;g3a60a63c625_14_101"/>
          <p:cNvSpPr txBox="1"/>
          <p:nvPr/>
        </p:nvSpPr>
        <p:spPr>
          <a:xfrm>
            <a:off x="272774" y="4884250"/>
            <a:ext cx="31800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資料來源：輝達官網、UALink Consortium</a:t>
            </a:r>
            <a:endParaRPr sz="11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80" name="Google Shape;480;g3a60a63c625_14_101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/>
              <a:t>12</a:t>
            </a:fld>
            <a:endParaRPr/>
          </a:p>
        </p:txBody>
      </p:sp>
      <p:grpSp>
        <p:nvGrpSpPr>
          <p:cNvPr id="481" name="Google Shape;481;g3a60a63c625_14_101"/>
          <p:cNvGrpSpPr/>
          <p:nvPr/>
        </p:nvGrpSpPr>
        <p:grpSpPr>
          <a:xfrm>
            <a:off x="242301" y="434035"/>
            <a:ext cx="484808" cy="484808"/>
            <a:chOff x="1628775" y="1381125"/>
            <a:chExt cx="1352700" cy="1352700"/>
          </a:xfrm>
        </p:grpSpPr>
        <p:sp>
          <p:nvSpPr>
            <p:cNvPr id="482" name="Google Shape;482;g3a60a63c625_14_101"/>
            <p:cNvSpPr/>
            <p:nvPr/>
          </p:nvSpPr>
          <p:spPr>
            <a:xfrm>
              <a:off x="1628775" y="1381125"/>
              <a:ext cx="1352700" cy="1352700"/>
            </a:xfrm>
            <a:prstGeom prst="ellipse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83" name="Google Shape;483;g3a60a63c625_14_10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60962" y="1929413"/>
              <a:ext cx="1134638" cy="309446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484" name="Google Shape;484;g3a60a63c625_14_101"/>
          <p:cNvGraphicFramePr/>
          <p:nvPr>
            <p:extLst>
              <p:ext uri="{D42A27DB-BD31-4B8C-83A1-F6EECF244321}">
                <p14:modId xmlns:p14="http://schemas.microsoft.com/office/powerpoint/2010/main" val="867556062"/>
              </p:ext>
            </p:extLst>
          </p:nvPr>
        </p:nvGraphicFramePr>
        <p:xfrm>
          <a:off x="324711" y="2583302"/>
          <a:ext cx="4433348" cy="2184075"/>
        </p:xfrm>
        <a:graphic>
          <a:graphicData uri="http://schemas.openxmlformats.org/drawingml/2006/table">
            <a:tbl>
              <a:tblPr firstRow="1" bandRow="1">
                <a:noFill/>
                <a:tableStyleId>{2B68E9A6-A27C-460E-885C-FF5D6AFE4BE9}</a:tableStyleId>
              </a:tblPr>
              <a:tblGrid>
                <a:gridCol w="681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6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A64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NVLink Fusion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A64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UALink</a:t>
                      </a:r>
                      <a:endParaRPr sz="110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A64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主導者</a:t>
                      </a:r>
                      <a:endParaRPr sz="10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5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Nvidia</a:t>
                      </a:r>
                      <a:endParaRPr sz="10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AMD, 博通, Google, Intel等</a:t>
                      </a:r>
                      <a:endParaRPr sz="10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開放性</a:t>
                      </a:r>
                      <a:endParaRPr sz="10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5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僅開放部分技術給合作夥伴</a:t>
                      </a:r>
                      <a:endParaRPr sz="10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開放的行業標準</a:t>
                      </a:r>
                      <a:endParaRPr sz="10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互通性</a:t>
                      </a:r>
                      <a:endParaRPr sz="10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5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主要為 NVIDIA 與特定夥伴硬體之間的連接設計，通常需要NVIDIA 產品。</a:t>
                      </a:r>
                      <a:endParaRPr sz="10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支援任何成員的加速器和主機互連。</a:t>
                      </a:r>
                      <a:endParaRPr sz="10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擴展規模</a:t>
                      </a:r>
                      <a:endParaRPr sz="10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5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NVLink 5.0</a:t>
                      </a:r>
                      <a:r>
                        <a:rPr lang="zh-TW" altLang="en-US" sz="10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sz="10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可連結</a:t>
                      </a:r>
                      <a:r>
                        <a:rPr lang="zh-TW" altLang="en-US" sz="10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sz="10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576</a:t>
                      </a:r>
                      <a:r>
                        <a:rPr lang="zh-TW" altLang="en-US" sz="10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sz="10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個加速器</a:t>
                      </a:r>
                      <a:endParaRPr sz="100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UALink 1.0 可連結 1024 個加速器</a:t>
                      </a:r>
                      <a:endParaRPr sz="10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優缺點</a:t>
                      </a:r>
                      <a:endParaRPr sz="10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5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高效能、生態完整，但供應商鎖定高</a:t>
                      </a:r>
                      <a:endParaRPr sz="10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TW" sz="10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開放、供應彈性高，但成熟度與效能仍待驗證</a:t>
                      </a:r>
                      <a:endParaRPr sz="100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85" name="Google Shape;485;g3a60a63c625_14_101"/>
          <p:cNvSpPr txBox="1"/>
          <p:nvPr/>
        </p:nvSpPr>
        <p:spPr>
          <a:xfrm>
            <a:off x="356693" y="947025"/>
            <a:ext cx="8533657" cy="1361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l"/>
            </a:pP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NVLink Fusion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是開放式的連結技術， 讓非輝達的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CPU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與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GPU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能透過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NVLink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與輝達系統整合使用。透過提供專屬的光纖互聯與交換器，並以 chiplet 形式授權，輝達大幅降低開發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ASIC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所需面對的高速互連技術門檻，並使第三方晶片能更容易接入現有的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NVIDIA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基礎架構。而首波合作夥伴包括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Marvell、世芯、聯發科等。對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CSP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而言，導入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ASIC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不再需要自行開發高速互連，等於直接取得「與輝達相容」的標準化介面，使客製化晶片更容易進入現有 AI 基礎架構。此舉不僅擴大了整體 ASIC 生態，也提高了加入生態鏈廠商在 ASIC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的滲透機會。</a:t>
            </a:r>
            <a:endParaRPr sz="1400" b="0" i="0" u="none" strike="noStrike" cap="none" dirty="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86" name="Google Shape;486;g3a60a63c625_14_101"/>
          <p:cNvSpPr/>
          <p:nvPr/>
        </p:nvSpPr>
        <p:spPr>
          <a:xfrm>
            <a:off x="356759" y="2337088"/>
            <a:ext cx="4401300" cy="242400"/>
          </a:xfrm>
          <a:prstGeom prst="rect">
            <a:avLst/>
          </a:prstGeom>
          <a:solidFill>
            <a:srgbClr val="F1A5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NVLink Fusion vs UALink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7" name="Google Shape;487;g3a60a63c625_14_101"/>
          <p:cNvGrpSpPr/>
          <p:nvPr/>
        </p:nvGrpSpPr>
        <p:grpSpPr>
          <a:xfrm>
            <a:off x="4796337" y="2599157"/>
            <a:ext cx="4093914" cy="2186015"/>
            <a:chOff x="4846599" y="2411451"/>
            <a:chExt cx="3827185" cy="2248010"/>
          </a:xfrm>
        </p:grpSpPr>
        <p:sp>
          <p:nvSpPr>
            <p:cNvPr id="488" name="Google Shape;488;g3a60a63c625_14_101"/>
            <p:cNvSpPr/>
            <p:nvPr/>
          </p:nvSpPr>
          <p:spPr>
            <a:xfrm>
              <a:off x="7165496" y="4401761"/>
              <a:ext cx="1507800" cy="2577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7875" cap="flat" cmpd="sng">
              <a:solidFill>
                <a:srgbClr val="F1A6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150" tIns="28575" rIns="57150" bIns="2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5"/>
                <a:buFont typeface="Arial"/>
                <a:buNone/>
              </a:pPr>
              <a:r>
                <a:rPr lang="zh-TW" sz="875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NVLink Switch</a:t>
              </a:r>
              <a:endParaRPr sz="87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g3a60a63c625_14_101"/>
            <p:cNvSpPr txBox="1"/>
            <p:nvPr/>
          </p:nvSpPr>
          <p:spPr>
            <a:xfrm>
              <a:off x="6492475" y="3232700"/>
              <a:ext cx="580500" cy="50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5"/>
                <a:buFont typeface="Arial"/>
                <a:buNone/>
              </a:pPr>
              <a:r>
                <a:rPr lang="zh-TW" sz="875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NVLink </a:t>
              </a:r>
              <a:endParaRPr sz="87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5"/>
                <a:buFont typeface="Arial"/>
                <a:buNone/>
              </a:pPr>
              <a:endParaRPr sz="87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5"/>
                <a:buFont typeface="Arial"/>
                <a:buNone/>
              </a:pPr>
              <a:r>
                <a:rPr lang="zh-TW" sz="875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Fusion</a:t>
              </a:r>
              <a:endParaRPr sz="87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g3a60a63c625_14_101"/>
            <p:cNvSpPr/>
            <p:nvPr/>
          </p:nvSpPr>
          <p:spPr>
            <a:xfrm rot="-5400000" flipH="1">
              <a:off x="6696044" y="3205352"/>
              <a:ext cx="75300" cy="580500"/>
            </a:xfrm>
            <a:prstGeom prst="downArrow">
              <a:avLst>
                <a:gd name="adj1" fmla="val 50000"/>
                <a:gd name="adj2" fmla="val 92530"/>
              </a:avLst>
            </a:prstGeom>
            <a:solidFill>
              <a:srgbClr val="F1A63B"/>
            </a:solidFill>
            <a:ln w="9525" cap="flat" cmpd="sng">
              <a:solidFill>
                <a:srgbClr val="F1A6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150" tIns="28575" rIns="57150" bIns="2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5"/>
                <a:buFont typeface="Arial"/>
                <a:buNone/>
              </a:pPr>
              <a:endParaRPr sz="8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1" name="Google Shape;491;g3a60a63c625_14_101"/>
            <p:cNvGrpSpPr/>
            <p:nvPr/>
          </p:nvGrpSpPr>
          <p:grpSpPr>
            <a:xfrm>
              <a:off x="4846798" y="2850984"/>
              <a:ext cx="3826686" cy="259899"/>
              <a:chOff x="4846610" y="2923409"/>
              <a:chExt cx="3826686" cy="259899"/>
            </a:xfrm>
          </p:grpSpPr>
          <p:sp>
            <p:nvSpPr>
              <p:cNvPr id="492" name="Google Shape;492;g3a60a63c625_14_101"/>
              <p:cNvSpPr/>
              <p:nvPr/>
            </p:nvSpPr>
            <p:spPr>
              <a:xfrm>
                <a:off x="4846610" y="2925608"/>
                <a:ext cx="1507800" cy="2577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7875" cap="flat" cmpd="sng">
                <a:solidFill>
                  <a:srgbClr val="F1A6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150" tIns="28575" rIns="57150" bIns="28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75"/>
                  <a:buFont typeface="Arial"/>
                  <a:buNone/>
                </a:pPr>
                <a:r>
                  <a:rPr lang="zh-TW" sz="875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BlueField/ConnectX</a:t>
                </a:r>
                <a:endParaRPr sz="87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g3a60a63c625_14_101"/>
              <p:cNvSpPr/>
              <p:nvPr/>
            </p:nvSpPr>
            <p:spPr>
              <a:xfrm>
                <a:off x="7165496" y="2923409"/>
                <a:ext cx="1507800" cy="2577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7875" cap="flat" cmpd="sng">
                <a:solidFill>
                  <a:srgbClr val="F1A6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150" tIns="28575" rIns="57150" bIns="28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75"/>
                  <a:buFont typeface="Arial"/>
                  <a:buNone/>
                </a:pPr>
                <a:r>
                  <a:rPr lang="zh-TW" sz="875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BF/CX/Custom</a:t>
                </a:r>
                <a:endParaRPr sz="87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4" name="Google Shape;494;g3a60a63c625_14_101"/>
            <p:cNvGrpSpPr/>
            <p:nvPr/>
          </p:nvGrpSpPr>
          <p:grpSpPr>
            <a:xfrm>
              <a:off x="4846599" y="2411451"/>
              <a:ext cx="3826706" cy="263648"/>
              <a:chOff x="4846599" y="2411451"/>
              <a:chExt cx="3826706" cy="263648"/>
            </a:xfrm>
          </p:grpSpPr>
          <p:sp>
            <p:nvSpPr>
              <p:cNvPr id="495" name="Google Shape;495;g3a60a63c625_14_101"/>
              <p:cNvSpPr/>
              <p:nvPr/>
            </p:nvSpPr>
            <p:spPr>
              <a:xfrm>
                <a:off x="4846599" y="2417399"/>
                <a:ext cx="1507800" cy="2577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7875" cap="flat" cmpd="sng">
                <a:solidFill>
                  <a:srgbClr val="F1A6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150" tIns="28575" rIns="57150" bIns="28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75"/>
                  <a:buFont typeface="Arial"/>
                  <a:buNone/>
                </a:pPr>
                <a:r>
                  <a:rPr lang="zh-TW" sz="875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Spectrum-X</a:t>
                </a:r>
                <a:endParaRPr sz="87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g3a60a63c625_14_101"/>
              <p:cNvSpPr/>
              <p:nvPr/>
            </p:nvSpPr>
            <p:spPr>
              <a:xfrm>
                <a:off x="7165505" y="2411451"/>
                <a:ext cx="1507800" cy="2577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7875" cap="flat" cmpd="sng">
                <a:solidFill>
                  <a:srgbClr val="F1A6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150" tIns="28575" rIns="57150" bIns="28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75"/>
                  <a:buFont typeface="Arial"/>
                  <a:buNone/>
                </a:pPr>
                <a:r>
                  <a:rPr lang="zh-TW" sz="875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Spectrum-X/Custom</a:t>
                </a:r>
                <a:endParaRPr sz="87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7" name="Google Shape;497;g3a60a63c625_14_101"/>
            <p:cNvSpPr/>
            <p:nvPr/>
          </p:nvSpPr>
          <p:spPr>
            <a:xfrm>
              <a:off x="4846924" y="4401703"/>
              <a:ext cx="1507800" cy="2577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7875" cap="flat" cmpd="sng">
              <a:solidFill>
                <a:srgbClr val="F1A6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150" tIns="28575" rIns="57150" bIns="2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5"/>
                <a:buFont typeface="Arial"/>
                <a:buNone/>
              </a:pPr>
              <a:r>
                <a:rPr lang="zh-TW" sz="875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NVLink Switch </a:t>
              </a:r>
              <a:endParaRPr sz="87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8" name="Google Shape;498;g3a60a63c625_14_101"/>
            <p:cNvGrpSpPr/>
            <p:nvPr/>
          </p:nvGrpSpPr>
          <p:grpSpPr>
            <a:xfrm>
              <a:off x="4846710" y="3319063"/>
              <a:ext cx="3827074" cy="384285"/>
              <a:chOff x="4846347" y="3433913"/>
              <a:chExt cx="3827074" cy="384285"/>
            </a:xfrm>
          </p:grpSpPr>
          <p:grpSp>
            <p:nvGrpSpPr>
              <p:cNvPr id="499" name="Google Shape;499;g3a60a63c625_14_101"/>
              <p:cNvGrpSpPr/>
              <p:nvPr/>
            </p:nvGrpSpPr>
            <p:grpSpPr>
              <a:xfrm>
                <a:off x="4846347" y="3433913"/>
                <a:ext cx="1508464" cy="384285"/>
                <a:chOff x="4321200" y="2321125"/>
                <a:chExt cx="2025600" cy="644450"/>
              </a:xfrm>
            </p:grpSpPr>
            <p:sp>
              <p:nvSpPr>
                <p:cNvPr id="500" name="Google Shape;500;g3a60a63c625_14_101"/>
                <p:cNvSpPr/>
                <p:nvPr/>
              </p:nvSpPr>
              <p:spPr>
                <a:xfrm>
                  <a:off x="4321650" y="2321125"/>
                  <a:ext cx="2024700" cy="457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FFFF"/>
                </a:solidFill>
                <a:ln w="17875" cap="flat" cmpd="sng">
                  <a:solidFill>
                    <a:srgbClr val="F1A63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7150" tIns="28575" rIns="57150" bIns="285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75"/>
                    <a:buFont typeface="Arial"/>
                    <a:buNone/>
                  </a:pPr>
                  <a:r>
                    <a:rPr lang="zh-TW" sz="875" b="1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NVIDIA CPU</a:t>
                  </a:r>
                  <a:endParaRPr sz="875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1" name="Google Shape;501;g3a60a63c625_14_101"/>
                <p:cNvSpPr/>
                <p:nvPr/>
              </p:nvSpPr>
              <p:spPr>
                <a:xfrm>
                  <a:off x="4321200" y="2720775"/>
                  <a:ext cx="2025600" cy="2448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1A63B"/>
                </a:solidFill>
                <a:ln w="17875" cap="flat" cmpd="sng">
                  <a:solidFill>
                    <a:srgbClr val="F1A63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7150" tIns="28575" rIns="57150" bIns="285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75"/>
                    <a:buFont typeface="Arial"/>
                    <a:buNone/>
                  </a:pPr>
                  <a:r>
                    <a:rPr lang="zh-TW" sz="875" b="1" i="0" u="none" strike="noStrike" cap="non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NVLink-C2C</a:t>
                  </a:r>
                  <a:endParaRPr sz="10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02" name="Google Shape;502;g3a60a63c625_14_101"/>
              <p:cNvGrpSpPr/>
              <p:nvPr/>
            </p:nvGrpSpPr>
            <p:grpSpPr>
              <a:xfrm>
                <a:off x="7164957" y="3446987"/>
                <a:ext cx="1508464" cy="369020"/>
                <a:chOff x="6947325" y="2346725"/>
                <a:chExt cx="2025600" cy="618850"/>
              </a:xfrm>
            </p:grpSpPr>
            <p:sp>
              <p:nvSpPr>
                <p:cNvPr id="503" name="Google Shape;503;g3a60a63c625_14_101"/>
                <p:cNvSpPr/>
                <p:nvPr/>
              </p:nvSpPr>
              <p:spPr>
                <a:xfrm>
                  <a:off x="6948225" y="2346725"/>
                  <a:ext cx="2024700" cy="457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FFFF"/>
                </a:solidFill>
                <a:ln w="17875" cap="flat" cmpd="sng">
                  <a:solidFill>
                    <a:srgbClr val="F1A63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7150" tIns="28575" rIns="57150" bIns="285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75"/>
                    <a:buFont typeface="Arial"/>
                    <a:buNone/>
                  </a:pPr>
                  <a:r>
                    <a:rPr lang="zh-TW" sz="875" b="1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CPU/Custom</a:t>
                  </a:r>
                  <a:endParaRPr sz="875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4" name="Google Shape;504;g3a60a63c625_14_101"/>
                <p:cNvSpPr/>
                <p:nvPr/>
              </p:nvSpPr>
              <p:spPr>
                <a:xfrm>
                  <a:off x="6947325" y="2720775"/>
                  <a:ext cx="2025600" cy="2448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1A63B"/>
                </a:solidFill>
                <a:ln w="17875" cap="flat" cmpd="sng">
                  <a:solidFill>
                    <a:srgbClr val="F1A63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7150" tIns="28575" rIns="57150" bIns="285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75"/>
                    <a:buFont typeface="Arial"/>
                    <a:buNone/>
                  </a:pPr>
                  <a:r>
                    <a:rPr lang="zh-TW" sz="875" b="1" i="0" u="none" strike="noStrike" cap="non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NVLink-C2C/PCLe</a:t>
                  </a:r>
                  <a:endParaRPr sz="10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05" name="Google Shape;505;g3a60a63c625_14_101"/>
            <p:cNvGrpSpPr/>
            <p:nvPr/>
          </p:nvGrpSpPr>
          <p:grpSpPr>
            <a:xfrm>
              <a:off x="4846599" y="3874374"/>
              <a:ext cx="3826829" cy="369662"/>
              <a:chOff x="4846599" y="3964737"/>
              <a:chExt cx="3826829" cy="369662"/>
            </a:xfrm>
          </p:grpSpPr>
          <p:sp>
            <p:nvSpPr>
              <p:cNvPr id="506" name="Google Shape;506;g3a60a63c625_14_101"/>
              <p:cNvSpPr/>
              <p:nvPr/>
            </p:nvSpPr>
            <p:spPr>
              <a:xfrm>
                <a:off x="4846599" y="3966778"/>
                <a:ext cx="1507800" cy="2577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7875" cap="flat" cmpd="sng">
                <a:solidFill>
                  <a:srgbClr val="F1A6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150" tIns="28575" rIns="57150" bIns="28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75"/>
                  <a:buFont typeface="Arial"/>
                  <a:buNone/>
                </a:pPr>
                <a:r>
                  <a:rPr lang="zh-TW" sz="875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NVIDIA GPU</a:t>
                </a:r>
                <a:endParaRPr sz="87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07" name="Google Shape;507;g3a60a63c625_14_101"/>
              <p:cNvGrpSpPr/>
              <p:nvPr/>
            </p:nvGrpSpPr>
            <p:grpSpPr>
              <a:xfrm>
                <a:off x="7164957" y="3964737"/>
                <a:ext cx="1508471" cy="369662"/>
                <a:chOff x="6947325" y="3214996"/>
                <a:chExt cx="2025608" cy="619926"/>
              </a:xfrm>
            </p:grpSpPr>
            <p:sp>
              <p:nvSpPr>
                <p:cNvPr id="508" name="Google Shape;508;g3a60a63c625_14_101"/>
                <p:cNvSpPr/>
                <p:nvPr/>
              </p:nvSpPr>
              <p:spPr>
                <a:xfrm>
                  <a:off x="6948233" y="3214996"/>
                  <a:ext cx="2024700" cy="4320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FFFF"/>
                </a:solidFill>
                <a:ln w="17875" cap="flat" cmpd="sng">
                  <a:solidFill>
                    <a:srgbClr val="F1A63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7150" tIns="28575" rIns="57150" bIns="285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75"/>
                    <a:buFont typeface="Arial"/>
                    <a:buNone/>
                  </a:pPr>
                  <a:r>
                    <a:rPr lang="zh-TW" sz="875" b="1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GPU/ASIC</a:t>
                  </a:r>
                  <a:endParaRPr sz="875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9" name="Google Shape;509;g3a60a63c625_14_101"/>
                <p:cNvSpPr/>
                <p:nvPr/>
              </p:nvSpPr>
              <p:spPr>
                <a:xfrm>
                  <a:off x="6947325" y="3590122"/>
                  <a:ext cx="2025600" cy="2448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1A63B"/>
                </a:solidFill>
                <a:ln w="17875" cap="flat" cmpd="sng">
                  <a:solidFill>
                    <a:srgbClr val="F1A63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7150" tIns="28575" rIns="57150" bIns="285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75"/>
                    <a:buFont typeface="Arial"/>
                    <a:buNone/>
                  </a:pPr>
                  <a:r>
                    <a:rPr lang="zh-TW" sz="875" b="1" i="0" u="none" strike="noStrike" cap="non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NVLink</a:t>
                  </a:r>
                  <a:endParaRPr sz="10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510" name="Google Shape;510;g3a60a63c625_14_101"/>
            <p:cNvSpPr/>
            <p:nvPr/>
          </p:nvSpPr>
          <p:spPr>
            <a:xfrm flipH="1">
              <a:off x="5555825" y="2688825"/>
              <a:ext cx="90000" cy="142800"/>
            </a:xfrm>
            <a:prstGeom prst="upDownArrow">
              <a:avLst>
                <a:gd name="adj1" fmla="val 50000"/>
                <a:gd name="adj2" fmla="val 50754"/>
              </a:avLst>
            </a:prstGeom>
            <a:solidFill>
              <a:srgbClr val="F8A937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5"/>
                <a:buFont typeface="Arial"/>
                <a:buNone/>
              </a:pPr>
              <a:endParaRPr sz="87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g3a60a63c625_14_101"/>
            <p:cNvSpPr/>
            <p:nvPr/>
          </p:nvSpPr>
          <p:spPr>
            <a:xfrm flipH="1">
              <a:off x="7874525" y="2688825"/>
              <a:ext cx="90000" cy="142800"/>
            </a:xfrm>
            <a:prstGeom prst="upDownArrow">
              <a:avLst>
                <a:gd name="adj1" fmla="val 50000"/>
                <a:gd name="adj2" fmla="val 50754"/>
              </a:avLst>
            </a:prstGeom>
            <a:solidFill>
              <a:srgbClr val="F8A937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5"/>
                <a:buFont typeface="Arial"/>
                <a:buNone/>
              </a:pPr>
              <a:endParaRPr sz="87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g3a60a63c625_14_101"/>
            <p:cNvSpPr/>
            <p:nvPr/>
          </p:nvSpPr>
          <p:spPr>
            <a:xfrm flipH="1">
              <a:off x="7874513" y="3143465"/>
              <a:ext cx="90000" cy="142800"/>
            </a:xfrm>
            <a:prstGeom prst="upDownArrow">
              <a:avLst>
                <a:gd name="adj1" fmla="val 50000"/>
                <a:gd name="adj2" fmla="val 50754"/>
              </a:avLst>
            </a:prstGeom>
            <a:solidFill>
              <a:srgbClr val="F8A937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5"/>
                <a:buFont typeface="Arial"/>
                <a:buNone/>
              </a:pPr>
              <a:endParaRPr sz="87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g3a60a63c625_14_101"/>
            <p:cNvSpPr/>
            <p:nvPr/>
          </p:nvSpPr>
          <p:spPr>
            <a:xfrm flipH="1">
              <a:off x="5555763" y="3143465"/>
              <a:ext cx="90000" cy="142800"/>
            </a:xfrm>
            <a:prstGeom prst="upDownArrow">
              <a:avLst>
                <a:gd name="adj1" fmla="val 50000"/>
                <a:gd name="adj2" fmla="val 50754"/>
              </a:avLst>
            </a:prstGeom>
            <a:solidFill>
              <a:srgbClr val="F8A937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5"/>
                <a:buFont typeface="Arial"/>
                <a:buNone/>
              </a:pPr>
              <a:endParaRPr sz="87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g3a60a63c625_14_101"/>
            <p:cNvSpPr/>
            <p:nvPr/>
          </p:nvSpPr>
          <p:spPr>
            <a:xfrm>
              <a:off x="7874516" y="4280583"/>
              <a:ext cx="90000" cy="112800"/>
            </a:xfrm>
            <a:prstGeom prst="upDownArrow">
              <a:avLst>
                <a:gd name="adj1" fmla="val 50000"/>
                <a:gd name="adj2" fmla="val 50754"/>
              </a:avLst>
            </a:prstGeom>
            <a:solidFill>
              <a:srgbClr val="F8A937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5"/>
                <a:buFont typeface="Arial"/>
                <a:buNone/>
              </a:pPr>
              <a:endParaRPr sz="87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g3a60a63c625_14_101"/>
            <p:cNvSpPr/>
            <p:nvPr/>
          </p:nvSpPr>
          <p:spPr>
            <a:xfrm flipH="1">
              <a:off x="5555800" y="4156798"/>
              <a:ext cx="90000" cy="206400"/>
            </a:xfrm>
            <a:prstGeom prst="upDownArrow">
              <a:avLst>
                <a:gd name="adj1" fmla="val 50000"/>
                <a:gd name="adj2" fmla="val 50754"/>
              </a:avLst>
            </a:prstGeom>
            <a:solidFill>
              <a:srgbClr val="F8A937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5"/>
                <a:buFont typeface="Arial"/>
                <a:buNone/>
              </a:pPr>
              <a:endParaRPr sz="87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g3a60a63c625_14_101"/>
            <p:cNvSpPr/>
            <p:nvPr/>
          </p:nvSpPr>
          <p:spPr>
            <a:xfrm>
              <a:off x="5555770" y="3740138"/>
              <a:ext cx="90000" cy="112800"/>
            </a:xfrm>
            <a:prstGeom prst="upDownArrow">
              <a:avLst>
                <a:gd name="adj1" fmla="val 50000"/>
                <a:gd name="adj2" fmla="val 50754"/>
              </a:avLst>
            </a:prstGeom>
            <a:solidFill>
              <a:srgbClr val="F8A937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5"/>
                <a:buFont typeface="Arial"/>
                <a:buNone/>
              </a:pPr>
              <a:endParaRPr sz="87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g3a60a63c625_14_101"/>
            <p:cNvSpPr/>
            <p:nvPr/>
          </p:nvSpPr>
          <p:spPr>
            <a:xfrm>
              <a:off x="7874515" y="3740130"/>
              <a:ext cx="90000" cy="112800"/>
            </a:xfrm>
            <a:prstGeom prst="upDownArrow">
              <a:avLst>
                <a:gd name="adj1" fmla="val 50000"/>
                <a:gd name="adj2" fmla="val 50754"/>
              </a:avLst>
            </a:prstGeom>
            <a:solidFill>
              <a:srgbClr val="F8A937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5"/>
                <a:buFont typeface="Arial"/>
                <a:buNone/>
              </a:pPr>
              <a:endParaRPr sz="87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8" name="Google Shape;518;g3a60a63c625_14_101"/>
          <p:cNvGrpSpPr/>
          <p:nvPr/>
        </p:nvGrpSpPr>
        <p:grpSpPr>
          <a:xfrm>
            <a:off x="4796336" y="2332832"/>
            <a:ext cx="4117529" cy="246475"/>
            <a:chOff x="4786225" y="2138425"/>
            <a:chExt cx="4117529" cy="246475"/>
          </a:xfrm>
        </p:grpSpPr>
        <p:sp>
          <p:nvSpPr>
            <p:cNvPr id="519" name="Google Shape;519;g3a60a63c625_14_101"/>
            <p:cNvSpPr/>
            <p:nvPr/>
          </p:nvSpPr>
          <p:spPr>
            <a:xfrm>
              <a:off x="5886225" y="2142500"/>
              <a:ext cx="1747800" cy="242400"/>
            </a:xfrm>
            <a:prstGeom prst="rect">
              <a:avLst/>
            </a:prstGeom>
            <a:solidFill>
              <a:srgbClr val="F1A539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g3a60a63c625_14_101"/>
            <p:cNvSpPr/>
            <p:nvPr/>
          </p:nvSpPr>
          <p:spPr>
            <a:xfrm>
              <a:off x="4786225" y="2138425"/>
              <a:ext cx="1747800" cy="242400"/>
            </a:xfrm>
            <a:prstGeom prst="rect">
              <a:avLst/>
            </a:prstGeom>
            <a:solidFill>
              <a:srgbClr val="F1A539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NVIDIA機櫃架構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g3a60a63c625_14_101"/>
            <p:cNvSpPr/>
            <p:nvPr/>
          </p:nvSpPr>
          <p:spPr>
            <a:xfrm>
              <a:off x="6760125" y="2140668"/>
              <a:ext cx="2143629" cy="242400"/>
            </a:xfrm>
            <a:prstGeom prst="rect">
              <a:avLst/>
            </a:prstGeom>
            <a:solidFill>
              <a:srgbClr val="F1A539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NVLink Fusion機櫃架構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2" name="Google Shape;522;g3a60a63c625_14_101"/>
          <p:cNvGrpSpPr/>
          <p:nvPr/>
        </p:nvGrpSpPr>
        <p:grpSpPr>
          <a:xfrm>
            <a:off x="-164" y="0"/>
            <a:ext cx="9144164" cy="330000"/>
            <a:chOff x="-5459" y="0"/>
            <a:chExt cx="9144164" cy="330000"/>
          </a:xfrm>
        </p:grpSpPr>
        <p:sp>
          <p:nvSpPr>
            <p:cNvPr id="523" name="Google Shape;523;g3a60a63c625_14_101"/>
            <p:cNvSpPr/>
            <p:nvPr/>
          </p:nvSpPr>
          <p:spPr>
            <a:xfrm>
              <a:off x="-545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EBAA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EBAA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524" name="Google Shape;524;g3a60a63c625_14_101"/>
            <p:cNvSpPr/>
            <p:nvPr/>
          </p:nvSpPr>
          <p:spPr>
            <a:xfrm>
              <a:off x="3434054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525" name="Google Shape;525;g3a60a63c625_14_101"/>
            <p:cNvSpPr/>
            <p:nvPr/>
          </p:nvSpPr>
          <p:spPr>
            <a:xfrm>
              <a:off x="4580541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526" name="Google Shape;526;g3a60a63c625_14_101"/>
            <p:cNvSpPr/>
            <p:nvPr/>
          </p:nvSpPr>
          <p:spPr>
            <a:xfrm>
              <a:off x="572702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527" name="Google Shape;527;g3a60a63c625_14_101"/>
            <p:cNvSpPr/>
            <p:nvPr/>
          </p:nvSpPr>
          <p:spPr>
            <a:xfrm>
              <a:off x="6873517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528" name="Google Shape;528;g3a60a63c625_14_101"/>
            <p:cNvSpPr/>
            <p:nvPr/>
          </p:nvSpPr>
          <p:spPr>
            <a:xfrm>
              <a:off x="8020005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529" name="Google Shape;529;g3a60a63c625_14_101"/>
            <p:cNvSpPr/>
            <p:nvPr/>
          </p:nvSpPr>
          <p:spPr>
            <a:xfrm>
              <a:off x="2287550" y="0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530" name="Google Shape;530;g3a60a63c625_14_101"/>
            <p:cNvSpPr/>
            <p:nvPr/>
          </p:nvSpPr>
          <p:spPr>
            <a:xfrm>
              <a:off x="1141062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g3a60a63c625_14_1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3" y="4936782"/>
            <a:ext cx="1085425" cy="168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7" name="Google Shape;537;g3a60a63c625_14_161"/>
          <p:cNvGrpSpPr/>
          <p:nvPr/>
        </p:nvGrpSpPr>
        <p:grpSpPr>
          <a:xfrm>
            <a:off x="261292" y="354578"/>
            <a:ext cx="484808" cy="484808"/>
            <a:chOff x="1628775" y="1381125"/>
            <a:chExt cx="1352700" cy="1352700"/>
          </a:xfrm>
        </p:grpSpPr>
        <p:sp>
          <p:nvSpPr>
            <p:cNvPr id="538" name="Google Shape;538;g3a60a63c625_14_161"/>
            <p:cNvSpPr/>
            <p:nvPr/>
          </p:nvSpPr>
          <p:spPr>
            <a:xfrm>
              <a:off x="1628775" y="1381125"/>
              <a:ext cx="1352700" cy="1352700"/>
            </a:xfrm>
            <a:prstGeom prst="ellipse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pic>
          <p:nvPicPr>
            <p:cNvPr id="539" name="Google Shape;539;g3a60a63c625_14_16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60962" y="1929413"/>
              <a:ext cx="1134638" cy="3094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0" name="Google Shape;540;g3a60a63c625_14_161"/>
          <p:cNvSpPr txBox="1"/>
          <p:nvPr/>
        </p:nvSpPr>
        <p:spPr>
          <a:xfrm>
            <a:off x="724058" y="428411"/>
            <a:ext cx="7946400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AWS ASIC Roadmap 與前後段供應鏈轉換</a:t>
            </a:r>
            <a:endParaRPr sz="18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541" name="Google Shape;541;g3a60a63c625_14_161"/>
          <p:cNvCxnSpPr/>
          <p:nvPr/>
        </p:nvCxnSpPr>
        <p:spPr>
          <a:xfrm>
            <a:off x="484697" y="4871409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42" name="Google Shape;542;g3a60a63c625_14_161"/>
          <p:cNvSpPr txBox="1"/>
          <p:nvPr/>
        </p:nvSpPr>
        <p:spPr>
          <a:xfrm>
            <a:off x="306866" y="4893045"/>
            <a:ext cx="7797801" cy="23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</a:t>
            </a:r>
            <a:r>
              <a:rPr lang="zh-TW" sz="11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MS (2025/11)、JPM (2024/12)、國泰證券 (2025/09)、自行整理</a:t>
            </a:r>
            <a:endParaRPr sz="11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3" name="Google Shape;543;g3a60a63c625_14_161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zh-TW">
                <a:latin typeface="Microsoft JhengHei"/>
                <a:ea typeface="Microsoft JhengHei"/>
                <a:cs typeface="Microsoft JhengHei"/>
                <a:sym typeface="Microsoft JhengHei"/>
              </a:rPr>
              <a:t>13</a:t>
            </a:fld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4" name="Google Shape;544;g3a60a63c625_14_161"/>
          <p:cNvSpPr/>
          <p:nvPr/>
        </p:nvSpPr>
        <p:spPr>
          <a:xfrm>
            <a:off x="435479" y="2516520"/>
            <a:ext cx="3989563" cy="329997"/>
          </a:xfrm>
          <a:prstGeom prst="rect">
            <a:avLst/>
          </a:prstGeom>
          <a:solidFill>
            <a:srgbClr val="F1A63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AWS ASIC 世代 Roadmap 與主要供應商變化</a:t>
            </a:r>
            <a:endParaRPr sz="14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5" name="Google Shape;545;g3a60a63c625_14_161"/>
          <p:cNvSpPr/>
          <p:nvPr/>
        </p:nvSpPr>
        <p:spPr>
          <a:xfrm>
            <a:off x="4587890" y="2514786"/>
            <a:ext cx="4120630" cy="329996"/>
          </a:xfrm>
          <a:prstGeom prst="rect">
            <a:avLst/>
          </a:prstGeom>
          <a:solidFill>
            <a:srgbClr val="F1A5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AWS ASIC 前段與後段分工轉換</a:t>
            </a:r>
            <a:endParaRPr sz="14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6" name="Google Shape;546;g3a60a63c625_14_161"/>
          <p:cNvSpPr/>
          <p:nvPr/>
        </p:nvSpPr>
        <p:spPr>
          <a:xfrm>
            <a:off x="459617" y="873042"/>
            <a:ext cx="8254200" cy="1562646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7" name="Google Shape;547;g3a60a63c625_14_161"/>
          <p:cNvSpPr/>
          <p:nvPr/>
        </p:nvSpPr>
        <p:spPr>
          <a:xfrm>
            <a:off x="428942" y="929523"/>
            <a:ext cx="8203002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8" name="Google Shape;548;g3a60a63c625_14_161"/>
          <p:cNvSpPr txBox="1"/>
          <p:nvPr/>
        </p:nvSpPr>
        <p:spPr>
          <a:xfrm>
            <a:off x="449711" y="865725"/>
            <a:ext cx="82740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l"/>
            </a:pPr>
            <a:r>
              <a:rPr lang="zh-TW" sz="1400" b="0" i="0" u="none" strike="noStrike" cap="none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AWS 在早期 ASIC 世代 Trainium2 時代完全依賴 Marvell，由其同時負責前段與後段設計及量產；但進入 Trainium3，AWS 將前段架構與關鍵 IP 採購收回由 Annapurna 主導，後段則改由具成本與工程效率優勢的 Alchip 承擔，形成「Annapurna 前段＋Alchip 後段」的新合作模式，Alchip 負責 PD、224G SerDes 整合、封裝與整體 Turnkey，成為主要供應商，年出貨約 120 萬顆，AWS 自製約 40 萬顆。而市場近期討論 TR4（2nm）世代可能重新增加 Marvell 的參與度，理由是設計複雜度提高且 AWS 有意分散風險，但目前並無確切證據顯示供應鏈已從 TR3 的架構產生明顯位移，相關傳聞仍屬市場階段性的推測。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9" name="Google Shape;549;g3a60a63c625_14_161"/>
          <p:cNvGrpSpPr/>
          <p:nvPr/>
        </p:nvGrpSpPr>
        <p:grpSpPr>
          <a:xfrm>
            <a:off x="428942" y="2957884"/>
            <a:ext cx="3989563" cy="1689984"/>
            <a:chOff x="0" y="128901"/>
            <a:chExt cx="3989563" cy="1689984"/>
          </a:xfrm>
        </p:grpSpPr>
        <p:sp>
          <p:nvSpPr>
            <p:cNvPr id="550" name="Google Shape;550;g3a60a63c625_14_161"/>
            <p:cNvSpPr/>
            <p:nvPr/>
          </p:nvSpPr>
          <p:spPr>
            <a:xfrm>
              <a:off x="0" y="861847"/>
              <a:ext cx="3989563" cy="236243"/>
            </a:xfrm>
            <a:prstGeom prst="notchedRightArrow">
              <a:avLst>
                <a:gd name="adj1" fmla="val 50000"/>
                <a:gd name="adj2" fmla="val 50000"/>
              </a:avLst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g3a60a63c625_14_161"/>
            <p:cNvSpPr/>
            <p:nvPr/>
          </p:nvSpPr>
          <p:spPr>
            <a:xfrm>
              <a:off x="0" y="132186"/>
              <a:ext cx="828399" cy="783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g3a60a63c625_14_161"/>
            <p:cNvSpPr txBox="1"/>
            <p:nvPr/>
          </p:nvSpPr>
          <p:spPr>
            <a:xfrm>
              <a:off x="0" y="132186"/>
              <a:ext cx="828399" cy="783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8225" tIns="78225" rIns="78225" bIns="78225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zh-TW" sz="1050" b="1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TR2 (5nm)</a:t>
              </a:r>
              <a:endParaRPr sz="105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553" name="Google Shape;553;g3a60a63c625_14_161"/>
            <p:cNvSpPr/>
            <p:nvPr/>
          </p:nvSpPr>
          <p:spPr>
            <a:xfrm>
              <a:off x="316642" y="881972"/>
              <a:ext cx="195993" cy="195993"/>
            </a:xfrm>
            <a:prstGeom prst="ellipse">
              <a:avLst/>
            </a:prstGeom>
            <a:solidFill>
              <a:srgbClr val="C55A1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g3a60a63c625_14_161"/>
            <p:cNvSpPr/>
            <p:nvPr/>
          </p:nvSpPr>
          <p:spPr>
            <a:xfrm>
              <a:off x="870258" y="1034910"/>
              <a:ext cx="980269" cy="783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g3a60a63c625_14_161"/>
            <p:cNvSpPr txBox="1"/>
            <p:nvPr/>
          </p:nvSpPr>
          <p:spPr>
            <a:xfrm>
              <a:off x="870258" y="1034910"/>
              <a:ext cx="980269" cy="783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8225" tIns="78225" rIns="78225" bIns="7822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zh-TW" sz="1050" b="1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TR2.5 (5nm)</a:t>
              </a:r>
              <a:endParaRPr sz="105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556" name="Google Shape;556;g3a60a63c625_14_161"/>
            <p:cNvSpPr/>
            <p:nvPr/>
          </p:nvSpPr>
          <p:spPr>
            <a:xfrm>
              <a:off x="1262396" y="881972"/>
              <a:ext cx="195993" cy="195993"/>
            </a:xfrm>
            <a:prstGeom prst="ellipse">
              <a:avLst/>
            </a:prstGeom>
            <a:solidFill>
              <a:srgbClr val="C55A1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g3a60a63c625_14_161"/>
            <p:cNvSpPr/>
            <p:nvPr/>
          </p:nvSpPr>
          <p:spPr>
            <a:xfrm>
              <a:off x="1887889" y="128901"/>
              <a:ext cx="828399" cy="783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g3a60a63c625_14_161"/>
            <p:cNvSpPr txBox="1"/>
            <p:nvPr/>
          </p:nvSpPr>
          <p:spPr>
            <a:xfrm>
              <a:off x="1887889" y="128901"/>
              <a:ext cx="828399" cy="783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8225" tIns="78225" rIns="78225" bIns="78225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zh-TW" sz="1050" b="1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TR3 (3nm)</a:t>
              </a:r>
              <a:endParaRPr sz="105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559" name="Google Shape;559;g3a60a63c625_14_161"/>
            <p:cNvSpPr/>
            <p:nvPr/>
          </p:nvSpPr>
          <p:spPr>
            <a:xfrm>
              <a:off x="2208151" y="881972"/>
              <a:ext cx="195993" cy="195993"/>
            </a:xfrm>
            <a:prstGeom prst="ellipse">
              <a:avLst/>
            </a:prstGeom>
            <a:solidFill>
              <a:srgbClr val="C55A1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g3a60a63c625_14_161"/>
            <p:cNvSpPr/>
            <p:nvPr/>
          </p:nvSpPr>
          <p:spPr>
            <a:xfrm>
              <a:off x="2757708" y="1034910"/>
              <a:ext cx="828399" cy="783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g3a60a63c625_14_161"/>
            <p:cNvSpPr txBox="1"/>
            <p:nvPr/>
          </p:nvSpPr>
          <p:spPr>
            <a:xfrm>
              <a:off x="2757708" y="1034910"/>
              <a:ext cx="828399" cy="783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8225" tIns="78225" rIns="78225" bIns="7822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zh-TW" sz="1050" b="1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TR4 (2nm)</a:t>
              </a:r>
              <a:endParaRPr sz="105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562" name="Google Shape;562;g3a60a63c625_14_161"/>
            <p:cNvSpPr/>
            <p:nvPr/>
          </p:nvSpPr>
          <p:spPr>
            <a:xfrm>
              <a:off x="3077970" y="881972"/>
              <a:ext cx="195993" cy="195993"/>
            </a:xfrm>
            <a:prstGeom prst="ellipse">
              <a:avLst/>
            </a:prstGeom>
            <a:solidFill>
              <a:srgbClr val="C55A1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3" name="Google Shape;563;g3a60a63c625_14_161"/>
          <p:cNvSpPr/>
          <p:nvPr/>
        </p:nvSpPr>
        <p:spPr>
          <a:xfrm>
            <a:off x="286726" y="2916326"/>
            <a:ext cx="1205474" cy="521039"/>
          </a:xfrm>
          <a:prstGeom prst="rect">
            <a:avLst/>
          </a:prstGeom>
          <a:solidFill>
            <a:srgbClr val="FFF6ED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Marvell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（前段＋後段全包）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g3a60a63c625_14_161"/>
          <p:cNvSpPr/>
          <p:nvPr/>
        </p:nvSpPr>
        <p:spPr>
          <a:xfrm>
            <a:off x="779250" y="4175025"/>
            <a:ext cx="1885800" cy="521100"/>
          </a:xfrm>
          <a:prstGeom prst="rect">
            <a:avLst/>
          </a:prstGeom>
          <a:solidFill>
            <a:srgbClr val="FFF6ED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Marvell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（全包，量近期被砍單到 0）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3a60a63c625_14_161"/>
          <p:cNvSpPr/>
          <p:nvPr/>
        </p:nvSpPr>
        <p:spPr>
          <a:xfrm>
            <a:off x="2020550" y="2928750"/>
            <a:ext cx="1390200" cy="521100"/>
          </a:xfrm>
          <a:prstGeom prst="rect">
            <a:avLst/>
          </a:prstGeom>
          <a:solidFill>
            <a:srgbClr val="FFF6ED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Annapurna（前段）＋ Alchip（後段）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3a60a63c625_14_161"/>
          <p:cNvSpPr/>
          <p:nvPr/>
        </p:nvSpPr>
        <p:spPr>
          <a:xfrm>
            <a:off x="2665088" y="4173280"/>
            <a:ext cx="1885705" cy="521039"/>
          </a:xfrm>
          <a:prstGeom prst="rect">
            <a:avLst/>
          </a:prstGeom>
          <a:solidFill>
            <a:srgbClr val="FFF6ED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供應商未定</a:t>
            </a:r>
            <a:endParaRPr sz="1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（市場討論 Marvell 可能加入）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3a60a63c625_14_161"/>
          <p:cNvSpPr/>
          <p:nvPr/>
        </p:nvSpPr>
        <p:spPr>
          <a:xfrm>
            <a:off x="4587890" y="2893405"/>
            <a:ext cx="1323053" cy="1895515"/>
          </a:xfrm>
          <a:prstGeom prst="rect">
            <a:avLst/>
          </a:prstGeom>
          <a:solidFill>
            <a:srgbClr val="FFF6ED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68" name="Google Shape;568;g3a60a63c625_14_161"/>
          <p:cNvSpPr/>
          <p:nvPr/>
        </p:nvSpPr>
        <p:spPr>
          <a:xfrm>
            <a:off x="7392005" y="2888947"/>
            <a:ext cx="1323053" cy="1895515"/>
          </a:xfrm>
          <a:prstGeom prst="rect">
            <a:avLst/>
          </a:prstGeom>
          <a:solidFill>
            <a:srgbClr val="FFF6ED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69" name="Google Shape;569;g3a60a63c625_14_161"/>
          <p:cNvSpPr/>
          <p:nvPr/>
        </p:nvSpPr>
        <p:spPr>
          <a:xfrm>
            <a:off x="5989947" y="2888947"/>
            <a:ext cx="1323053" cy="1895515"/>
          </a:xfrm>
          <a:prstGeom prst="rect">
            <a:avLst/>
          </a:prstGeom>
          <a:solidFill>
            <a:srgbClr val="FFF6ED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70" name="Google Shape;570;g3a60a63c625_14_161"/>
          <p:cNvSpPr txBox="1"/>
          <p:nvPr/>
        </p:nvSpPr>
        <p:spPr>
          <a:xfrm>
            <a:off x="4579120" y="3000276"/>
            <a:ext cx="128114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TR2 / TR2.5</a:t>
            </a:r>
            <a:endParaRPr sz="11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71" name="Google Shape;571;g3a60a63c625_14_161"/>
          <p:cNvSpPr txBox="1"/>
          <p:nvPr/>
        </p:nvSpPr>
        <p:spPr>
          <a:xfrm>
            <a:off x="6029650" y="2995931"/>
            <a:ext cx="128114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TR3</a:t>
            </a:r>
            <a:endParaRPr sz="11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72" name="Google Shape;572;g3a60a63c625_14_161"/>
          <p:cNvSpPr txBox="1"/>
          <p:nvPr/>
        </p:nvSpPr>
        <p:spPr>
          <a:xfrm>
            <a:off x="7408204" y="3001847"/>
            <a:ext cx="128114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TR4</a:t>
            </a:r>
            <a:endParaRPr sz="11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73" name="Google Shape;573;g3a60a63c625_14_161"/>
          <p:cNvSpPr/>
          <p:nvPr/>
        </p:nvSpPr>
        <p:spPr>
          <a:xfrm>
            <a:off x="4586717" y="3354917"/>
            <a:ext cx="1311986" cy="163846"/>
          </a:xfrm>
          <a:prstGeom prst="rect">
            <a:avLst/>
          </a:prstGeom>
          <a:solidFill>
            <a:srgbClr val="F4B08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3a60a63c625_14_161"/>
          <p:cNvSpPr txBox="1"/>
          <p:nvPr/>
        </p:nvSpPr>
        <p:spPr>
          <a:xfrm>
            <a:off x="4603855" y="3323554"/>
            <a:ext cx="127770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前段</a:t>
            </a:r>
            <a:br>
              <a:rPr lang="zh-TW"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Marvell（Architecture、RTL、IP 整合）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a60a63c625_14_161"/>
          <p:cNvSpPr/>
          <p:nvPr/>
        </p:nvSpPr>
        <p:spPr>
          <a:xfrm>
            <a:off x="4586717" y="4113930"/>
            <a:ext cx="1311986" cy="163846"/>
          </a:xfrm>
          <a:prstGeom prst="rect">
            <a:avLst/>
          </a:prstGeom>
          <a:solidFill>
            <a:srgbClr val="F4B08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g3a60a63c625_14_161"/>
          <p:cNvSpPr/>
          <p:nvPr/>
        </p:nvSpPr>
        <p:spPr>
          <a:xfrm>
            <a:off x="6001853" y="3354917"/>
            <a:ext cx="1311986" cy="160425"/>
          </a:xfrm>
          <a:prstGeom prst="rect">
            <a:avLst/>
          </a:prstGeom>
          <a:solidFill>
            <a:srgbClr val="F4B08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3a60a63c625_14_161"/>
          <p:cNvSpPr/>
          <p:nvPr/>
        </p:nvSpPr>
        <p:spPr>
          <a:xfrm>
            <a:off x="6003774" y="4108970"/>
            <a:ext cx="1311986" cy="168805"/>
          </a:xfrm>
          <a:prstGeom prst="rect">
            <a:avLst/>
          </a:prstGeom>
          <a:solidFill>
            <a:srgbClr val="F4B08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g3a60a63c625_14_161"/>
          <p:cNvSpPr/>
          <p:nvPr/>
        </p:nvSpPr>
        <p:spPr>
          <a:xfrm>
            <a:off x="7392844" y="3354917"/>
            <a:ext cx="1311986" cy="160425"/>
          </a:xfrm>
          <a:prstGeom prst="rect">
            <a:avLst/>
          </a:prstGeom>
          <a:solidFill>
            <a:srgbClr val="F4B08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a60a63c625_14_161"/>
          <p:cNvSpPr/>
          <p:nvPr/>
        </p:nvSpPr>
        <p:spPr>
          <a:xfrm>
            <a:off x="7384567" y="4104026"/>
            <a:ext cx="1311986" cy="173750"/>
          </a:xfrm>
          <a:prstGeom prst="rect">
            <a:avLst/>
          </a:prstGeom>
          <a:solidFill>
            <a:srgbClr val="F4B08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a60a63c625_14_161"/>
          <p:cNvSpPr txBox="1"/>
          <p:nvPr/>
        </p:nvSpPr>
        <p:spPr>
          <a:xfrm>
            <a:off x="4610561" y="4076576"/>
            <a:ext cx="12777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後段</a:t>
            </a:r>
            <a:br>
              <a:rPr lang="zh-TW"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Marvell（PD、封裝、Turnkey）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a60a63c625_14_161"/>
          <p:cNvSpPr txBox="1"/>
          <p:nvPr/>
        </p:nvSpPr>
        <p:spPr>
          <a:xfrm>
            <a:off x="5991076" y="3319245"/>
            <a:ext cx="133685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前段</a:t>
            </a:r>
            <a:br>
              <a:rPr lang="zh-TW"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Annapurna（Architecture、IP 採購、RTL）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a60a63c625_14_161"/>
          <p:cNvSpPr txBox="1"/>
          <p:nvPr/>
        </p:nvSpPr>
        <p:spPr>
          <a:xfrm>
            <a:off x="5981684" y="4076576"/>
            <a:ext cx="127770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後段</a:t>
            </a:r>
            <a:br>
              <a:rPr lang="zh-TW"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Alchip（PD、224G SerDes、封裝、Turnkey）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a60a63c625_14_161"/>
          <p:cNvSpPr txBox="1"/>
          <p:nvPr/>
        </p:nvSpPr>
        <p:spPr>
          <a:xfrm>
            <a:off x="7380408" y="3315518"/>
            <a:ext cx="133685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前段</a:t>
            </a:r>
            <a:endParaRPr sz="10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Annapurna（前段掌握權維持不變）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84" name="Google Shape;584;g3a60a63c625_14_161"/>
          <p:cNvSpPr txBox="1"/>
          <p:nvPr/>
        </p:nvSpPr>
        <p:spPr>
          <a:xfrm>
            <a:off x="7373726" y="4076576"/>
            <a:ext cx="135010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後段</a:t>
            </a:r>
            <a:br>
              <a:rPr lang="zh-TW"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供應商未定（市場討論 Marvell 有望加入）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5" name="Google Shape;585;g3a60a63c625_14_161"/>
          <p:cNvGrpSpPr/>
          <p:nvPr/>
        </p:nvGrpSpPr>
        <p:grpSpPr>
          <a:xfrm>
            <a:off x="-164" y="0"/>
            <a:ext cx="9144164" cy="330000"/>
            <a:chOff x="-5459" y="0"/>
            <a:chExt cx="9144164" cy="330000"/>
          </a:xfrm>
        </p:grpSpPr>
        <p:sp>
          <p:nvSpPr>
            <p:cNvPr id="586" name="Google Shape;586;g3a60a63c625_14_161"/>
            <p:cNvSpPr/>
            <p:nvPr/>
          </p:nvSpPr>
          <p:spPr>
            <a:xfrm>
              <a:off x="-545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EBAA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EBAA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587" name="Google Shape;587;g3a60a63c625_14_161"/>
            <p:cNvSpPr/>
            <p:nvPr/>
          </p:nvSpPr>
          <p:spPr>
            <a:xfrm>
              <a:off x="3434054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588" name="Google Shape;588;g3a60a63c625_14_161"/>
            <p:cNvSpPr/>
            <p:nvPr/>
          </p:nvSpPr>
          <p:spPr>
            <a:xfrm>
              <a:off x="4580541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589" name="Google Shape;589;g3a60a63c625_14_161"/>
            <p:cNvSpPr/>
            <p:nvPr/>
          </p:nvSpPr>
          <p:spPr>
            <a:xfrm>
              <a:off x="572702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590" name="Google Shape;590;g3a60a63c625_14_161"/>
            <p:cNvSpPr/>
            <p:nvPr/>
          </p:nvSpPr>
          <p:spPr>
            <a:xfrm>
              <a:off x="6873517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591" name="Google Shape;591;g3a60a63c625_14_161"/>
            <p:cNvSpPr/>
            <p:nvPr/>
          </p:nvSpPr>
          <p:spPr>
            <a:xfrm>
              <a:off x="8020005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592" name="Google Shape;592;g3a60a63c625_14_161"/>
            <p:cNvSpPr/>
            <p:nvPr/>
          </p:nvSpPr>
          <p:spPr>
            <a:xfrm>
              <a:off x="2287550" y="0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593" name="Google Shape;593;g3a60a63c625_14_161"/>
            <p:cNvSpPr/>
            <p:nvPr/>
          </p:nvSpPr>
          <p:spPr>
            <a:xfrm>
              <a:off x="1141062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a60bde1a51_4_0"/>
          <p:cNvSpPr/>
          <p:nvPr/>
        </p:nvSpPr>
        <p:spPr>
          <a:xfrm>
            <a:off x="439699" y="2679407"/>
            <a:ext cx="4025399" cy="2075975"/>
          </a:xfrm>
          <a:prstGeom prst="rect">
            <a:avLst/>
          </a:prstGeom>
          <a:solidFill>
            <a:srgbClr val="FFF6ED"/>
          </a:solidFill>
          <a:ln w="25400" cap="flat" cmpd="sng">
            <a:solidFill>
              <a:srgbClr val="FFF6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0" name="Google Shape;600;g3a60bde1a51_4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3" y="4902040"/>
            <a:ext cx="1085425" cy="168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1" name="Google Shape;601;g3a60bde1a51_4_0"/>
          <p:cNvGrpSpPr/>
          <p:nvPr/>
        </p:nvGrpSpPr>
        <p:grpSpPr>
          <a:xfrm>
            <a:off x="242301" y="434035"/>
            <a:ext cx="484808" cy="484808"/>
            <a:chOff x="1628775" y="1381125"/>
            <a:chExt cx="1352700" cy="1352700"/>
          </a:xfrm>
        </p:grpSpPr>
        <p:sp>
          <p:nvSpPr>
            <p:cNvPr id="602" name="Google Shape;602;g3a60bde1a51_4_0"/>
            <p:cNvSpPr/>
            <p:nvPr/>
          </p:nvSpPr>
          <p:spPr>
            <a:xfrm>
              <a:off x="1628775" y="1381125"/>
              <a:ext cx="1352700" cy="1352700"/>
            </a:xfrm>
            <a:prstGeom prst="ellipse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3" name="Google Shape;603;g3a60bde1a51_4_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60962" y="1929413"/>
              <a:ext cx="1134638" cy="3094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4" name="Google Shape;604;g3a60bde1a51_4_0"/>
          <p:cNvSpPr txBox="1"/>
          <p:nvPr/>
        </p:nvSpPr>
        <p:spPr>
          <a:xfrm>
            <a:off x="727101" y="503338"/>
            <a:ext cx="7946400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CoWoS 產能瓶頸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5" name="Google Shape;605;g3a60bde1a51_4_0"/>
          <p:cNvCxnSpPr/>
          <p:nvPr/>
        </p:nvCxnSpPr>
        <p:spPr>
          <a:xfrm>
            <a:off x="341190" y="4828712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6" name="Google Shape;606;g3a60bde1a51_4_0"/>
          <p:cNvSpPr txBox="1"/>
          <p:nvPr/>
        </p:nvSpPr>
        <p:spPr>
          <a:xfrm>
            <a:off x="341190" y="4844203"/>
            <a:ext cx="7797801" cy="23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</a:t>
            </a:r>
            <a:r>
              <a:rPr lang="zh-TW" sz="11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MS(2025/11)、CLSA(2025/06)、國泰證券(2025/09)、自行整理</a:t>
            </a:r>
            <a:endParaRPr sz="11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07" name="Google Shape;607;g3a60bde1a51_4_0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zh-TW"/>
              <a:t>14</a:t>
            </a:fld>
            <a:endParaRPr/>
          </a:p>
        </p:txBody>
      </p:sp>
      <p:sp>
        <p:nvSpPr>
          <p:cNvPr id="608" name="Google Shape;608;g3a60bde1a51_4_0"/>
          <p:cNvSpPr/>
          <p:nvPr/>
        </p:nvSpPr>
        <p:spPr>
          <a:xfrm>
            <a:off x="439699" y="2356713"/>
            <a:ext cx="4025399" cy="329997"/>
          </a:xfrm>
          <a:prstGeom prst="rect">
            <a:avLst/>
          </a:prstGeom>
          <a:solidFill>
            <a:srgbClr val="F1A63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CoWoS 先進封裝架構</a:t>
            </a:r>
            <a:endParaRPr sz="11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09" name="Google Shape;609;g3a60bde1a51_4_0"/>
          <p:cNvSpPr/>
          <p:nvPr/>
        </p:nvSpPr>
        <p:spPr>
          <a:xfrm>
            <a:off x="4587890" y="2354303"/>
            <a:ext cx="4116410" cy="325104"/>
          </a:xfrm>
          <a:prstGeom prst="rect">
            <a:avLst/>
          </a:prstGeom>
          <a:solidFill>
            <a:srgbClr val="F1A5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ASIC：先進封裝與先進製程的競爭定位</a:t>
            </a:r>
            <a:endParaRPr sz="14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10" name="Google Shape;610;g3a60bde1a51_4_0"/>
          <p:cNvSpPr/>
          <p:nvPr/>
        </p:nvSpPr>
        <p:spPr>
          <a:xfrm>
            <a:off x="423693" y="945921"/>
            <a:ext cx="8254200" cy="1357553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g3a60bde1a51_4_0"/>
          <p:cNvSpPr/>
          <p:nvPr/>
        </p:nvSpPr>
        <p:spPr>
          <a:xfrm>
            <a:off x="428942" y="929523"/>
            <a:ext cx="8203002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3a60bde1a51_4_0"/>
          <p:cNvSpPr txBox="1"/>
          <p:nvPr/>
        </p:nvSpPr>
        <p:spPr>
          <a:xfrm>
            <a:off x="423694" y="918479"/>
            <a:ext cx="8259448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l"/>
            </a:pPr>
            <a:r>
              <a:rPr lang="zh-TW" sz="1400" b="0" i="0" u="none" strike="noStrike" cap="none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AI/HPC 需要高速運算與大量記憶體頻寬，推動先進製程與先進封裝（尤其 CoWoS）快速升級；在 CoWoS 架構下，SoC、SoIC、HBM 與其他關鍵元件需被整合在同一封裝內，使封裝複雜度與產能需求大幅提高，CoWoS 逐漸成為整體供應鏈的最大瓶頸。掌握先進製程能力、同時能合作取得 CoWoS / SoIC 產能並具備封裝整合實力的 ASIC 廠商，將享有明顯競爭優勢；相對地，僅有成熟製程或缺乏先進封裝整合能力的新進 ASIC 廠商，將難以與頂尖 AI/HPC ASIC 需求匹配，差距將快速拉大。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3a60bde1a51_4_0"/>
          <p:cNvSpPr/>
          <p:nvPr/>
        </p:nvSpPr>
        <p:spPr>
          <a:xfrm>
            <a:off x="542847" y="2780538"/>
            <a:ext cx="3825015" cy="1872178"/>
          </a:xfrm>
          <a:prstGeom prst="rect">
            <a:avLst/>
          </a:prstGeom>
          <a:solidFill>
            <a:srgbClr val="F4B081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g3a60bde1a51_4_0"/>
          <p:cNvSpPr/>
          <p:nvPr/>
        </p:nvSpPr>
        <p:spPr>
          <a:xfrm>
            <a:off x="1521596" y="3505200"/>
            <a:ext cx="1861603" cy="558794"/>
          </a:xfrm>
          <a:prstGeom prst="rect">
            <a:avLst/>
          </a:prstGeom>
          <a:solidFill>
            <a:srgbClr val="C9B4A5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SoC（Compute Die)</a:t>
            </a:r>
            <a:endParaRPr sz="11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615" name="Google Shape;615;g3a60bde1a51_4_0"/>
          <p:cNvGrpSpPr/>
          <p:nvPr/>
        </p:nvGrpSpPr>
        <p:grpSpPr>
          <a:xfrm>
            <a:off x="706794" y="3413091"/>
            <a:ext cx="630766" cy="740390"/>
            <a:chOff x="804170" y="3410702"/>
            <a:chExt cx="630766" cy="740390"/>
          </a:xfrm>
        </p:grpSpPr>
        <p:sp>
          <p:nvSpPr>
            <p:cNvPr id="616" name="Google Shape;616;g3a60bde1a51_4_0"/>
            <p:cNvSpPr/>
            <p:nvPr/>
          </p:nvSpPr>
          <p:spPr>
            <a:xfrm>
              <a:off x="804170" y="3928658"/>
              <a:ext cx="630766" cy="222434"/>
            </a:xfrm>
            <a:prstGeom prst="rect">
              <a:avLst/>
            </a:prstGeom>
            <a:solidFill>
              <a:srgbClr val="C55A11"/>
            </a:solidFill>
            <a:ln w="25400" cap="flat" cmpd="sng">
              <a:solidFill>
                <a:srgbClr val="1C305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g3a60bde1a51_4_0"/>
            <p:cNvSpPr/>
            <p:nvPr/>
          </p:nvSpPr>
          <p:spPr>
            <a:xfrm>
              <a:off x="869787" y="3713565"/>
              <a:ext cx="499533" cy="207433"/>
            </a:xfrm>
            <a:prstGeom prst="rect">
              <a:avLst/>
            </a:prstGeom>
            <a:solidFill>
              <a:srgbClr val="C55A11"/>
            </a:solidFill>
            <a:ln w="25400" cap="flat" cmpd="sng">
              <a:solidFill>
                <a:srgbClr val="1C305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g3a60bde1a51_4_0"/>
            <p:cNvSpPr/>
            <p:nvPr/>
          </p:nvSpPr>
          <p:spPr>
            <a:xfrm>
              <a:off x="937521" y="3516989"/>
              <a:ext cx="364066" cy="199933"/>
            </a:xfrm>
            <a:prstGeom prst="rect">
              <a:avLst/>
            </a:prstGeom>
            <a:solidFill>
              <a:srgbClr val="C55A11"/>
            </a:solidFill>
            <a:ln w="25400" cap="flat" cmpd="sng">
              <a:solidFill>
                <a:srgbClr val="1C305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g3a60bde1a51_4_0"/>
            <p:cNvSpPr/>
            <p:nvPr/>
          </p:nvSpPr>
          <p:spPr>
            <a:xfrm>
              <a:off x="1010017" y="3410702"/>
              <a:ext cx="219075" cy="98787"/>
            </a:xfrm>
            <a:prstGeom prst="rect">
              <a:avLst/>
            </a:prstGeom>
            <a:solidFill>
              <a:srgbClr val="C55A11"/>
            </a:solidFill>
            <a:ln w="25400" cap="flat" cmpd="sng">
              <a:solidFill>
                <a:srgbClr val="1C305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0" name="Google Shape;620;g3a60bde1a51_4_0"/>
          <p:cNvGrpSpPr/>
          <p:nvPr/>
        </p:nvGrpSpPr>
        <p:grpSpPr>
          <a:xfrm>
            <a:off x="3560146" y="3413091"/>
            <a:ext cx="630766" cy="740390"/>
            <a:chOff x="804170" y="3410702"/>
            <a:chExt cx="630766" cy="740390"/>
          </a:xfrm>
        </p:grpSpPr>
        <p:sp>
          <p:nvSpPr>
            <p:cNvPr id="621" name="Google Shape;621;g3a60bde1a51_4_0"/>
            <p:cNvSpPr/>
            <p:nvPr/>
          </p:nvSpPr>
          <p:spPr>
            <a:xfrm>
              <a:off x="804170" y="3928658"/>
              <a:ext cx="630766" cy="222434"/>
            </a:xfrm>
            <a:prstGeom prst="rect">
              <a:avLst/>
            </a:prstGeom>
            <a:solidFill>
              <a:srgbClr val="C55A11"/>
            </a:solidFill>
            <a:ln w="25400" cap="flat" cmpd="sng">
              <a:solidFill>
                <a:srgbClr val="1C305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g3a60bde1a51_4_0"/>
            <p:cNvSpPr/>
            <p:nvPr/>
          </p:nvSpPr>
          <p:spPr>
            <a:xfrm>
              <a:off x="869787" y="3713565"/>
              <a:ext cx="499533" cy="207433"/>
            </a:xfrm>
            <a:prstGeom prst="rect">
              <a:avLst/>
            </a:prstGeom>
            <a:solidFill>
              <a:srgbClr val="C55A11"/>
            </a:solidFill>
            <a:ln w="25400" cap="flat" cmpd="sng">
              <a:solidFill>
                <a:srgbClr val="1C305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g3a60bde1a51_4_0"/>
            <p:cNvSpPr/>
            <p:nvPr/>
          </p:nvSpPr>
          <p:spPr>
            <a:xfrm>
              <a:off x="937521" y="3516989"/>
              <a:ext cx="364066" cy="199933"/>
            </a:xfrm>
            <a:prstGeom prst="rect">
              <a:avLst/>
            </a:prstGeom>
            <a:solidFill>
              <a:srgbClr val="C55A11"/>
            </a:solidFill>
            <a:ln w="25400" cap="flat" cmpd="sng">
              <a:solidFill>
                <a:srgbClr val="1C305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g3a60bde1a51_4_0"/>
            <p:cNvSpPr/>
            <p:nvPr/>
          </p:nvSpPr>
          <p:spPr>
            <a:xfrm>
              <a:off x="1010017" y="3410702"/>
              <a:ext cx="219075" cy="98787"/>
            </a:xfrm>
            <a:prstGeom prst="rect">
              <a:avLst/>
            </a:prstGeom>
            <a:solidFill>
              <a:srgbClr val="C55A11"/>
            </a:solidFill>
            <a:ln w="25400" cap="flat" cmpd="sng">
              <a:solidFill>
                <a:srgbClr val="1C305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5" name="Google Shape;625;g3a60bde1a51_4_0"/>
          <p:cNvSpPr txBox="1"/>
          <p:nvPr/>
        </p:nvSpPr>
        <p:spPr>
          <a:xfrm>
            <a:off x="542847" y="3167757"/>
            <a:ext cx="54589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HBM</a:t>
            </a:r>
            <a:endParaRPr sz="11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26" name="Google Shape;626;g3a60bde1a51_4_0"/>
          <p:cNvSpPr txBox="1"/>
          <p:nvPr/>
        </p:nvSpPr>
        <p:spPr>
          <a:xfrm>
            <a:off x="3821964" y="3167757"/>
            <a:ext cx="54589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HBM</a:t>
            </a:r>
            <a:endParaRPr sz="11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27" name="Google Shape;627;g3a60bde1a51_4_0"/>
          <p:cNvSpPr/>
          <p:nvPr/>
        </p:nvSpPr>
        <p:spPr>
          <a:xfrm>
            <a:off x="1396035" y="3132301"/>
            <a:ext cx="67734" cy="1368683"/>
          </a:xfrm>
          <a:prstGeom prst="rect">
            <a:avLst/>
          </a:prstGeom>
          <a:solidFill>
            <a:srgbClr val="7F7F7F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g3a60bde1a51_4_0"/>
          <p:cNvSpPr/>
          <p:nvPr/>
        </p:nvSpPr>
        <p:spPr>
          <a:xfrm>
            <a:off x="3437696" y="3132301"/>
            <a:ext cx="67734" cy="1368683"/>
          </a:xfrm>
          <a:prstGeom prst="rect">
            <a:avLst/>
          </a:prstGeom>
          <a:solidFill>
            <a:srgbClr val="7F7F7F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3a60bde1a51_4_0"/>
          <p:cNvSpPr txBox="1"/>
          <p:nvPr/>
        </p:nvSpPr>
        <p:spPr>
          <a:xfrm>
            <a:off x="1464725" y="2949924"/>
            <a:ext cx="549619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SOIC</a:t>
            </a:r>
            <a:endParaRPr sz="11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30" name="Google Shape;630;g3a60bde1a51_4_0"/>
          <p:cNvSpPr txBox="1"/>
          <p:nvPr/>
        </p:nvSpPr>
        <p:spPr>
          <a:xfrm>
            <a:off x="2887121" y="2944710"/>
            <a:ext cx="549619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SOIC</a:t>
            </a:r>
            <a:endParaRPr sz="11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31" name="Google Shape;631;g3a60bde1a51_4_0"/>
          <p:cNvSpPr txBox="1"/>
          <p:nvPr/>
        </p:nvSpPr>
        <p:spPr>
          <a:xfrm>
            <a:off x="2696087" y="4436129"/>
            <a:ext cx="167177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CoWoS Package base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g3a60bde1a51_4_0"/>
          <p:cNvSpPr/>
          <p:nvPr/>
        </p:nvSpPr>
        <p:spPr>
          <a:xfrm>
            <a:off x="1073341" y="3713564"/>
            <a:ext cx="650213" cy="15608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E5D4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3a60bde1a51_4_0"/>
          <p:cNvSpPr/>
          <p:nvPr/>
        </p:nvSpPr>
        <p:spPr>
          <a:xfrm rot="10800000">
            <a:off x="3154480" y="3706173"/>
            <a:ext cx="650213" cy="15608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E5D4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4" name="Google Shape;634;g3a60bde1a51_4_0"/>
          <p:cNvGrpSpPr/>
          <p:nvPr/>
        </p:nvGrpSpPr>
        <p:grpSpPr>
          <a:xfrm>
            <a:off x="4587889" y="2702079"/>
            <a:ext cx="4946714" cy="2026000"/>
            <a:chOff x="4587889" y="2702079"/>
            <a:chExt cx="4946714" cy="2026000"/>
          </a:xfrm>
        </p:grpSpPr>
        <p:sp>
          <p:nvSpPr>
            <p:cNvPr id="635" name="Google Shape;635;g3a60bde1a51_4_0"/>
            <p:cNvSpPr txBox="1"/>
            <p:nvPr/>
          </p:nvSpPr>
          <p:spPr>
            <a:xfrm>
              <a:off x="4587889" y="2702079"/>
              <a:ext cx="1859478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zh-TW" sz="1000" b="0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運算能力(先進製程 / AI/HPC )</a:t>
              </a:r>
              <a:endParaRPr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grpSp>
          <p:nvGrpSpPr>
            <p:cNvPr id="636" name="Google Shape;636;g3a60bde1a51_4_0"/>
            <p:cNvGrpSpPr/>
            <p:nvPr/>
          </p:nvGrpSpPr>
          <p:grpSpPr>
            <a:xfrm>
              <a:off x="4781634" y="2944708"/>
              <a:ext cx="4752969" cy="1783372"/>
              <a:chOff x="4781634" y="2944708"/>
              <a:chExt cx="4752969" cy="1783372"/>
            </a:xfrm>
          </p:grpSpPr>
          <p:sp>
            <p:nvSpPr>
              <p:cNvPr id="637" name="Google Shape;637;g3a60bde1a51_4_0"/>
              <p:cNvSpPr/>
              <p:nvPr/>
            </p:nvSpPr>
            <p:spPr>
              <a:xfrm>
                <a:off x="4838701" y="4546398"/>
                <a:ext cx="2374900" cy="15133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dk1"/>
              </a:solidFill>
              <a:ln w="25400" cap="flat" cmpd="sng">
                <a:solidFill>
                  <a:srgbClr val="1C305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g3a60bde1a51_4_0"/>
              <p:cNvSpPr txBox="1"/>
              <p:nvPr/>
            </p:nvSpPr>
            <p:spPr>
              <a:xfrm>
                <a:off x="7159703" y="4466469"/>
                <a:ext cx="237490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zh-TW" sz="1100" b="0" i="0" u="none" strike="noStrike" cap="none">
                    <a:solidFill>
                      <a:srgbClr val="000000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封裝能力(成熟 → CoWoS )</a:t>
                </a:r>
                <a:endParaRPr sz="1100" b="0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grpSp>
            <p:nvGrpSpPr>
              <p:cNvPr id="639" name="Google Shape;639;g3a60bde1a51_4_0"/>
              <p:cNvGrpSpPr/>
              <p:nvPr/>
            </p:nvGrpSpPr>
            <p:grpSpPr>
              <a:xfrm>
                <a:off x="4781634" y="2944708"/>
                <a:ext cx="3766030" cy="1708006"/>
                <a:chOff x="4781634" y="2944708"/>
                <a:chExt cx="3766030" cy="1708006"/>
              </a:xfrm>
            </p:grpSpPr>
            <p:sp>
              <p:nvSpPr>
                <p:cNvPr id="640" name="Google Shape;640;g3a60bde1a51_4_0"/>
                <p:cNvSpPr/>
                <p:nvPr/>
              </p:nvSpPr>
              <p:spPr>
                <a:xfrm rot="-5400000">
                  <a:off x="4001205" y="3725136"/>
                  <a:ext cx="1708006" cy="147149"/>
                </a:xfrm>
                <a:prstGeom prst="rightArrow">
                  <a:avLst>
                    <a:gd name="adj1" fmla="val 50000"/>
                    <a:gd name="adj2" fmla="val 50000"/>
                  </a:avLst>
                </a:prstGeom>
                <a:solidFill>
                  <a:schemeClr val="dk1"/>
                </a:solidFill>
                <a:ln w="25400" cap="flat" cmpd="sng">
                  <a:solidFill>
                    <a:srgbClr val="1C305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1" name="Google Shape;641;g3a60bde1a51_4_0"/>
                <p:cNvSpPr txBox="1"/>
                <p:nvPr/>
              </p:nvSpPr>
              <p:spPr>
                <a:xfrm>
                  <a:off x="6531261" y="3055340"/>
                  <a:ext cx="749300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zh-TW" sz="1000" b="0" i="0" u="none" strike="noStrike" cap="none">
                      <a:solidFill>
                        <a:srgbClr val="000000"/>
                      </a:solidFill>
                      <a:latin typeface="Microsoft JhengHei"/>
                      <a:ea typeface="Microsoft JhengHei"/>
                      <a:cs typeface="Microsoft JhengHei"/>
                      <a:sym typeface="Microsoft JhengHei"/>
                    </a:rPr>
                    <a:t>Alchip</a:t>
                  </a:r>
                  <a:endParaRPr sz="1000" b="0" i="0" u="none" strike="noStrike" cap="none">
                    <a:solidFill>
                      <a:srgbClr val="000000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endParaRPr>
                </a:p>
              </p:txBody>
            </p:sp>
            <p:grpSp>
              <p:nvGrpSpPr>
                <p:cNvPr id="642" name="Google Shape;642;g3a60bde1a51_4_0"/>
                <p:cNvGrpSpPr/>
                <p:nvPr/>
              </p:nvGrpSpPr>
              <p:grpSpPr>
                <a:xfrm>
                  <a:off x="6341789" y="3149267"/>
                  <a:ext cx="2205874" cy="475067"/>
                  <a:chOff x="6039893" y="3298562"/>
                  <a:chExt cx="2205874" cy="475067"/>
                </a:xfrm>
              </p:grpSpPr>
              <p:sp>
                <p:nvSpPr>
                  <p:cNvPr id="643" name="Google Shape;643;g3a60bde1a51_4_0"/>
                  <p:cNvSpPr/>
                  <p:nvPr/>
                </p:nvSpPr>
                <p:spPr>
                  <a:xfrm>
                    <a:off x="6193365" y="3298562"/>
                    <a:ext cx="72000" cy="72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5400" cap="flat" cmpd="sng">
                    <a:solidFill>
                      <a:srgbClr val="1C305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4" name="Google Shape;644;g3a60bde1a51_4_0"/>
                  <p:cNvSpPr/>
                  <p:nvPr/>
                </p:nvSpPr>
                <p:spPr>
                  <a:xfrm>
                    <a:off x="6193365" y="3462484"/>
                    <a:ext cx="72000" cy="720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5400" cap="flat" cmpd="sng">
                    <a:solidFill>
                      <a:srgbClr val="1C305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5" name="Google Shape;645;g3a60bde1a51_4_0"/>
                  <p:cNvSpPr txBox="1"/>
                  <p:nvPr/>
                </p:nvSpPr>
                <p:spPr>
                  <a:xfrm>
                    <a:off x="6229365" y="3370562"/>
                    <a:ext cx="749300" cy="2462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lang="zh-TW" sz="10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rPr>
                      <a:t>GUC</a:t>
                    </a:r>
                    <a:endParaRPr sz="1000" b="0" i="0" u="none" strike="noStrike" cap="none">
                      <a:solidFill>
                        <a:srgbClr val="000000"/>
                      </a:solidFill>
                      <a:latin typeface="Microsoft JhengHei"/>
                      <a:ea typeface="Microsoft JhengHei"/>
                      <a:cs typeface="Microsoft JhengHei"/>
                      <a:sym typeface="Microsoft JhengHei"/>
                    </a:endParaRPr>
                  </a:p>
                </p:txBody>
              </p:sp>
              <p:sp>
                <p:nvSpPr>
                  <p:cNvPr id="646" name="Google Shape;646;g3a60bde1a51_4_0"/>
                  <p:cNvSpPr txBox="1"/>
                  <p:nvPr/>
                </p:nvSpPr>
                <p:spPr>
                  <a:xfrm>
                    <a:off x="6039893" y="3527408"/>
                    <a:ext cx="2205874" cy="2462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lang="zh-TW" sz="10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rPr>
                      <a:t>（先進製程 × 先進封裝）</a:t>
                    </a: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47" name="Google Shape;647;g3a60bde1a51_4_0"/>
                <p:cNvSpPr txBox="1"/>
                <p:nvPr/>
              </p:nvSpPr>
              <p:spPr>
                <a:xfrm>
                  <a:off x="5053785" y="3055339"/>
                  <a:ext cx="1058334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zh-TW" sz="1000" b="0" i="0" u="none" strike="noStrike" cap="none">
                      <a:solidFill>
                        <a:srgbClr val="000000"/>
                      </a:solidFill>
                      <a:latin typeface="Microsoft JhengHei"/>
                      <a:ea typeface="Microsoft JhengHei"/>
                      <a:cs typeface="Microsoft JhengHei"/>
                      <a:sym typeface="Microsoft JhengHei"/>
                    </a:rPr>
                    <a:t>新進 ASIC 公司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8" name="Google Shape;648;g3a60bde1a51_4_0"/>
                <p:cNvSpPr/>
                <p:nvPr/>
              </p:nvSpPr>
              <p:spPr>
                <a:xfrm>
                  <a:off x="5019154" y="3144156"/>
                  <a:ext cx="72000" cy="72000"/>
                </a:xfrm>
                <a:prstGeom prst="ellipse">
                  <a:avLst/>
                </a:prstGeom>
                <a:solidFill>
                  <a:srgbClr val="FFFF00"/>
                </a:solidFill>
                <a:ln w="25400" cap="flat" cmpd="sng">
                  <a:solidFill>
                    <a:srgbClr val="1C305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9" name="Google Shape;649;g3a60bde1a51_4_0"/>
                <p:cNvSpPr txBox="1"/>
                <p:nvPr/>
              </p:nvSpPr>
              <p:spPr>
                <a:xfrm>
                  <a:off x="4911034" y="3221008"/>
                  <a:ext cx="914400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zh-TW" sz="1000" b="0" i="0" u="none" strike="noStrike" cap="none">
                      <a:solidFill>
                        <a:srgbClr val="000000"/>
                      </a:solidFill>
                      <a:latin typeface="Microsoft JhengHei"/>
                      <a:ea typeface="Microsoft JhengHei"/>
                      <a:cs typeface="Microsoft JhengHei"/>
                      <a:sym typeface="Microsoft JhengHei"/>
                    </a:rPr>
                    <a:t>(缺封裝產能)</a:t>
                  </a:r>
                  <a:endParaRPr sz="1000" b="0" i="0" u="none" strike="noStrike" cap="none">
                    <a:solidFill>
                      <a:srgbClr val="000000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endParaRPr>
                </a:p>
              </p:txBody>
            </p:sp>
            <p:sp>
              <p:nvSpPr>
                <p:cNvPr id="650" name="Google Shape;650;g3a60bde1a51_4_0"/>
                <p:cNvSpPr txBox="1"/>
                <p:nvPr/>
              </p:nvSpPr>
              <p:spPr>
                <a:xfrm>
                  <a:off x="5053785" y="3904325"/>
                  <a:ext cx="1859478" cy="2616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zh-TW" sz="11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傳統 ASIC / 成熟製程廠商</a:t>
                  </a:r>
                  <a:endParaRPr sz="1000" b="0" i="0" u="none" strike="noStrike" cap="none">
                    <a:solidFill>
                      <a:srgbClr val="000000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endParaRPr>
                </a:p>
              </p:txBody>
            </p:sp>
            <p:sp>
              <p:nvSpPr>
                <p:cNvPr id="651" name="Google Shape;651;g3a60bde1a51_4_0"/>
                <p:cNvSpPr/>
                <p:nvPr/>
              </p:nvSpPr>
              <p:spPr>
                <a:xfrm>
                  <a:off x="5019154" y="3991994"/>
                  <a:ext cx="72000" cy="72000"/>
                </a:xfrm>
                <a:prstGeom prst="ellipse">
                  <a:avLst/>
                </a:prstGeom>
                <a:solidFill>
                  <a:srgbClr val="FFC000"/>
                </a:solidFill>
                <a:ln w="25400" cap="flat" cmpd="sng">
                  <a:solidFill>
                    <a:srgbClr val="1C305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2" name="Google Shape;652;g3a60bde1a51_4_0"/>
                <p:cNvSpPr txBox="1"/>
                <p:nvPr/>
              </p:nvSpPr>
              <p:spPr>
                <a:xfrm>
                  <a:off x="4928781" y="4071819"/>
                  <a:ext cx="1518585" cy="2616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zh-TW" sz="1100" b="0" i="0" u="none" strike="noStrike" cap="none">
                      <a:solidFill>
                        <a:srgbClr val="000000"/>
                      </a:solidFill>
                      <a:latin typeface="Microsoft JhengHei"/>
                      <a:ea typeface="Microsoft JhengHei"/>
                      <a:cs typeface="Microsoft JhengHei"/>
                      <a:sym typeface="Microsoft JhengHei"/>
                    </a:rPr>
                    <a:t>(成熟製程 × 無封裝)</a:t>
                  </a:r>
                  <a:endParaRPr sz="1100" b="0" i="0" u="none" strike="noStrike" cap="none">
                    <a:solidFill>
                      <a:srgbClr val="000000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endParaRPr>
                </a:p>
              </p:txBody>
            </p:sp>
          </p:grpSp>
        </p:grpSp>
      </p:grpSp>
      <p:grpSp>
        <p:nvGrpSpPr>
          <p:cNvPr id="653" name="Google Shape;653;g3a60bde1a51_4_0"/>
          <p:cNvGrpSpPr/>
          <p:nvPr/>
        </p:nvGrpSpPr>
        <p:grpSpPr>
          <a:xfrm>
            <a:off x="-164" y="0"/>
            <a:ext cx="9144164" cy="330000"/>
            <a:chOff x="-5459" y="0"/>
            <a:chExt cx="9144164" cy="330000"/>
          </a:xfrm>
        </p:grpSpPr>
        <p:sp>
          <p:nvSpPr>
            <p:cNvPr id="654" name="Google Shape;654;g3a60bde1a51_4_0"/>
            <p:cNvSpPr/>
            <p:nvPr/>
          </p:nvSpPr>
          <p:spPr>
            <a:xfrm>
              <a:off x="-545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EBAA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EBAA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55" name="Google Shape;655;g3a60bde1a51_4_0"/>
            <p:cNvSpPr/>
            <p:nvPr/>
          </p:nvSpPr>
          <p:spPr>
            <a:xfrm>
              <a:off x="3434054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56" name="Google Shape;656;g3a60bde1a51_4_0"/>
            <p:cNvSpPr/>
            <p:nvPr/>
          </p:nvSpPr>
          <p:spPr>
            <a:xfrm>
              <a:off x="4580541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57" name="Google Shape;657;g3a60bde1a51_4_0"/>
            <p:cNvSpPr/>
            <p:nvPr/>
          </p:nvSpPr>
          <p:spPr>
            <a:xfrm>
              <a:off x="572702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58" name="Google Shape;658;g3a60bde1a51_4_0"/>
            <p:cNvSpPr/>
            <p:nvPr/>
          </p:nvSpPr>
          <p:spPr>
            <a:xfrm>
              <a:off x="6873517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59" name="Google Shape;659;g3a60bde1a51_4_0"/>
            <p:cNvSpPr/>
            <p:nvPr/>
          </p:nvSpPr>
          <p:spPr>
            <a:xfrm>
              <a:off x="8020005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60" name="Google Shape;660;g3a60bde1a51_4_0"/>
            <p:cNvSpPr/>
            <p:nvPr/>
          </p:nvSpPr>
          <p:spPr>
            <a:xfrm>
              <a:off x="2287550" y="0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61" name="Google Shape;661;g3a60bde1a51_4_0"/>
            <p:cNvSpPr/>
            <p:nvPr/>
          </p:nvSpPr>
          <p:spPr>
            <a:xfrm>
              <a:off x="1141062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7" name="Google Shape;667;g3a60bde1a51_4_68"/>
          <p:cNvPicPr preferRelativeResize="0"/>
          <p:nvPr/>
        </p:nvPicPr>
        <p:blipFill rotWithShape="1">
          <a:blip r:embed="rId3">
            <a:alphaModFix/>
          </a:blip>
          <a:srcRect l="831" t="9951" r="2521" b="2605"/>
          <a:stretch/>
        </p:blipFill>
        <p:spPr>
          <a:xfrm>
            <a:off x="4804100" y="3014608"/>
            <a:ext cx="4116300" cy="1820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g3a60bde1a51_4_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9" name="Google Shape;669;g3a60bde1a51_4_68"/>
          <p:cNvGrpSpPr/>
          <p:nvPr/>
        </p:nvGrpSpPr>
        <p:grpSpPr>
          <a:xfrm>
            <a:off x="242301" y="434035"/>
            <a:ext cx="484808" cy="484808"/>
            <a:chOff x="1628775" y="1381125"/>
            <a:chExt cx="1352700" cy="1352700"/>
          </a:xfrm>
        </p:grpSpPr>
        <p:sp>
          <p:nvSpPr>
            <p:cNvPr id="670" name="Google Shape;670;g3a60bde1a51_4_68"/>
            <p:cNvSpPr/>
            <p:nvPr/>
          </p:nvSpPr>
          <p:spPr>
            <a:xfrm>
              <a:off x="1628775" y="1381125"/>
              <a:ext cx="1352700" cy="1352700"/>
            </a:xfrm>
            <a:prstGeom prst="ellipse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71" name="Google Shape;671;g3a60bde1a51_4_6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60962" y="1929413"/>
              <a:ext cx="1134638" cy="3094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2" name="Google Shape;672;g3a60bde1a51_4_68"/>
          <p:cNvSpPr txBox="1"/>
          <p:nvPr/>
        </p:nvSpPr>
        <p:spPr>
          <a:xfrm>
            <a:off x="727101" y="503338"/>
            <a:ext cx="7946400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ADAS 晶片隨著汽車架構轉換與效能要求提升而快速成長</a:t>
            </a:r>
            <a:endParaRPr sz="18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673" name="Google Shape;673;g3a60bde1a51_4_68"/>
          <p:cNvCxnSpPr/>
          <p:nvPr/>
        </p:nvCxnSpPr>
        <p:spPr>
          <a:xfrm>
            <a:off x="356693" y="4834711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4" name="Google Shape;674;g3a60bde1a51_4_68"/>
          <p:cNvSpPr txBox="1"/>
          <p:nvPr/>
        </p:nvSpPr>
        <p:spPr>
          <a:xfrm>
            <a:off x="272779" y="4884250"/>
            <a:ext cx="47637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資料來源：Statist、自行整理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g3a60bde1a51_4_68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TW"/>
              <a:t>15</a:t>
            </a:fld>
            <a:endParaRPr/>
          </a:p>
        </p:txBody>
      </p:sp>
      <p:sp>
        <p:nvSpPr>
          <p:cNvPr id="676" name="Google Shape;676;g3a60bde1a51_4_68"/>
          <p:cNvSpPr/>
          <p:nvPr/>
        </p:nvSpPr>
        <p:spPr>
          <a:xfrm>
            <a:off x="358700" y="935199"/>
            <a:ext cx="8561700" cy="1689782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8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ingdings" panose="05000000000000000000" pitchFamily="2" charset="2"/>
              <a:buChar char="l"/>
            </a:pP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未來汽車將從分散式 ECU 轉向集中式 DCU  架構。這需要一個中央大腦來處理所有感測器和決策， SoC 的運算力需求呈指數級增長。</a:t>
            </a:r>
            <a:endParaRPr sz="1400" b="0" i="0" u="none" strike="noStrike" cap="none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8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ingdings" panose="05000000000000000000" pitchFamily="2" charset="2"/>
              <a:buChar char="l"/>
            </a:pP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算力需求爆炸：為了實現 L3 及以上的功能，處理 LiDAR、雷達和多鏡頭數據所需的算力將不斷攀升，驅動晶片設計必須採用更先進的製程節點，這正是掌握先進製程晶片設計能力的廠商的機會。</a:t>
            </a:r>
            <a:endParaRPr lang="en-US" altLang="zh-TW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8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ingdings" panose="05000000000000000000" pitchFamily="2" charset="2"/>
              <a:buChar char="l"/>
            </a:pPr>
            <a:r>
              <a:rPr lang="en-US" alt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ADAS 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晶片市場中，</a:t>
            </a:r>
            <a:r>
              <a:rPr lang="en-US" alt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Mobileye </a:t>
            </a:r>
            <a:r>
              <a:rPr lang="zh-TW" altLang="en-US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以成熟的視覺感知演算法與高度整合的軟體生態占據主導地位。然而，為避免被單一平台過度綁定，許多車廠選擇投入自研晶片，以掌握自主性並降低長期成本。</a:t>
            </a:r>
            <a:endParaRPr lang="en-US" altLang="zh-TW" sz="1400" b="0" i="0" u="none" strike="noStrike" cap="none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318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ingdings" panose="05000000000000000000" pitchFamily="2" charset="2"/>
              <a:buChar char="l"/>
            </a:pPr>
            <a:r>
              <a:rPr lang="zh-TW" sz="1400" b="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ADAS 晶片需要通過嚴苛的車規認證，一旦通過認證進入供應鏈，競爭對手難以取代，能獲得長期穩定的訂單。</a:t>
            </a:r>
            <a:endParaRPr sz="1400" b="0" i="0" u="none" strike="noStrike" cap="none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677" name="Google Shape;677;g3a60bde1a51_4_68"/>
          <p:cNvGrpSpPr/>
          <p:nvPr/>
        </p:nvGrpSpPr>
        <p:grpSpPr>
          <a:xfrm>
            <a:off x="358627" y="3014608"/>
            <a:ext cx="4114363" cy="1752773"/>
            <a:chOff x="2131275" y="1025000"/>
            <a:chExt cx="4648901" cy="3719170"/>
          </a:xfrm>
        </p:grpSpPr>
        <p:sp>
          <p:nvSpPr>
            <p:cNvPr id="678" name="Google Shape;678;g3a60bde1a51_4_68"/>
            <p:cNvSpPr/>
            <p:nvPr/>
          </p:nvSpPr>
          <p:spPr>
            <a:xfrm>
              <a:off x="2131275" y="1025000"/>
              <a:ext cx="1492200" cy="663000"/>
            </a:xfrm>
            <a:prstGeom prst="rect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3150" tIns="31575" rIns="63150" bIns="3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lang="zh-TW" sz="1000" b="0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車用晶片</a:t>
              </a:r>
              <a:endParaRPr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79" name="Google Shape;679;g3a60bde1a51_4_68"/>
            <p:cNvSpPr/>
            <p:nvPr/>
          </p:nvSpPr>
          <p:spPr>
            <a:xfrm>
              <a:off x="3709626" y="1794820"/>
              <a:ext cx="1492200" cy="663000"/>
            </a:xfrm>
            <a:prstGeom prst="rect">
              <a:avLst/>
            </a:prstGeom>
            <a:solidFill>
              <a:srgbClr val="FFF6ED"/>
            </a:solidFill>
            <a:ln>
              <a:noFill/>
            </a:ln>
          </p:spPr>
          <p:txBody>
            <a:bodyPr spcFirstLastPara="1" wrap="square" lIns="63150" tIns="31575" rIns="63150" bIns="3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lang="zh-TW" sz="1000" b="0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功能單一</a:t>
              </a:r>
              <a:endParaRPr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80" name="Google Shape;680;g3a60bde1a51_4_68"/>
            <p:cNvSpPr/>
            <p:nvPr/>
          </p:nvSpPr>
          <p:spPr>
            <a:xfrm>
              <a:off x="2131275" y="1794824"/>
              <a:ext cx="1492200" cy="663000"/>
            </a:xfrm>
            <a:prstGeom prst="rect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3150" tIns="31575" rIns="63150" bIns="3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lang="zh-TW" sz="1000" b="0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技術特性</a:t>
              </a:r>
              <a:endParaRPr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81" name="Google Shape;681;g3a60bde1a51_4_68"/>
            <p:cNvSpPr/>
            <p:nvPr/>
          </p:nvSpPr>
          <p:spPr>
            <a:xfrm>
              <a:off x="2131275" y="2567188"/>
              <a:ext cx="1492200" cy="663000"/>
            </a:xfrm>
            <a:prstGeom prst="rect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3150" tIns="31575" rIns="63150" bIns="3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lang="zh-TW" sz="1000" b="0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應用場景</a:t>
              </a:r>
              <a:endParaRPr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82" name="Google Shape;682;g3a60bde1a51_4_68"/>
            <p:cNvSpPr/>
            <p:nvPr/>
          </p:nvSpPr>
          <p:spPr>
            <a:xfrm>
              <a:off x="2131275" y="3314750"/>
              <a:ext cx="1492200" cy="663000"/>
            </a:xfrm>
            <a:prstGeom prst="rect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3150" tIns="31575" rIns="63150" bIns="3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lang="zh-TW" sz="1000" b="0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市場角色</a:t>
              </a:r>
              <a:endParaRPr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83" name="Google Shape;683;g3a60bde1a51_4_68"/>
            <p:cNvSpPr/>
            <p:nvPr/>
          </p:nvSpPr>
          <p:spPr>
            <a:xfrm>
              <a:off x="2131275" y="4062300"/>
              <a:ext cx="1492200" cy="663000"/>
            </a:xfrm>
            <a:prstGeom prst="rect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3150" tIns="31575" rIns="63150" bIns="3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lang="zh-TW" sz="1000" b="0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發展趨勢</a:t>
              </a:r>
              <a:endParaRPr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84" name="Google Shape;684;g3a60bde1a51_4_68"/>
            <p:cNvSpPr/>
            <p:nvPr/>
          </p:nvSpPr>
          <p:spPr>
            <a:xfrm>
              <a:off x="3709636" y="1025000"/>
              <a:ext cx="1492200" cy="663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3150" tIns="31575" rIns="63150" bIns="3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lang="zh-TW" sz="1000" b="1" i="0" u="none" strike="noStrike" cap="non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MCU</a:t>
              </a:r>
              <a:endParaRPr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g3a60bde1a51_4_68"/>
            <p:cNvSpPr/>
            <p:nvPr/>
          </p:nvSpPr>
          <p:spPr>
            <a:xfrm>
              <a:off x="5287973" y="1025000"/>
              <a:ext cx="1492200" cy="663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3150" tIns="31575" rIns="63150" bIns="3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lang="zh-TW" sz="1000" b="1" i="0" u="none" strike="noStrike" cap="non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SOC</a:t>
              </a:r>
              <a:endParaRPr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g3a60bde1a51_4_68"/>
            <p:cNvSpPr/>
            <p:nvPr/>
          </p:nvSpPr>
          <p:spPr>
            <a:xfrm>
              <a:off x="3709626" y="2564645"/>
              <a:ext cx="1492200" cy="663000"/>
            </a:xfrm>
            <a:prstGeom prst="rect">
              <a:avLst/>
            </a:prstGeom>
            <a:solidFill>
              <a:srgbClr val="FFF6ED"/>
            </a:solidFill>
            <a:ln>
              <a:noFill/>
            </a:ln>
          </p:spPr>
          <p:txBody>
            <a:bodyPr spcFirstLastPara="1" wrap="square" lIns="63150" tIns="31575" rIns="63150" bIns="3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13"/>
                <a:buFont typeface="Arial"/>
                <a:buNone/>
              </a:pPr>
              <a:r>
                <a:rPr lang="zh-TW" sz="1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用於特定系統</a:t>
              </a:r>
              <a:endParaRPr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13"/>
                <a:buFont typeface="Arial"/>
                <a:buNone/>
              </a:pPr>
              <a:r>
                <a:rPr lang="zh-TW" sz="1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如引擎、煞車</a:t>
              </a:r>
              <a:endParaRPr sz="1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87" name="Google Shape;687;g3a60bde1a51_4_68"/>
            <p:cNvSpPr/>
            <p:nvPr/>
          </p:nvSpPr>
          <p:spPr>
            <a:xfrm>
              <a:off x="3709626" y="4074733"/>
              <a:ext cx="1492200" cy="663000"/>
            </a:xfrm>
            <a:prstGeom prst="rect">
              <a:avLst/>
            </a:prstGeom>
            <a:solidFill>
              <a:srgbClr val="FFF6ED"/>
            </a:solidFill>
            <a:ln>
              <a:noFill/>
            </a:ln>
          </p:spPr>
          <p:txBody>
            <a:bodyPr spcFirstLastPara="1" wrap="square" lIns="63150" tIns="31575" rIns="63150" bIns="3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lang="zh-TW" sz="1000" b="0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穩定成長</a:t>
              </a:r>
              <a:endParaRPr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88" name="Google Shape;688;g3a60bde1a51_4_68"/>
            <p:cNvSpPr/>
            <p:nvPr/>
          </p:nvSpPr>
          <p:spPr>
            <a:xfrm>
              <a:off x="5287976" y="1794833"/>
              <a:ext cx="1492200" cy="663000"/>
            </a:xfrm>
            <a:prstGeom prst="rect">
              <a:avLst/>
            </a:prstGeom>
            <a:solidFill>
              <a:srgbClr val="FFF6ED"/>
            </a:solidFill>
            <a:ln>
              <a:noFill/>
            </a:ln>
          </p:spPr>
          <p:txBody>
            <a:bodyPr spcFirstLastPara="1" wrap="square" lIns="63150" tIns="31575" rIns="63150" bIns="3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lang="zh-TW" sz="1000" b="0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高度整合</a:t>
              </a:r>
              <a:endParaRPr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lang="zh-TW" sz="1000" b="0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結合CPU、GPU</a:t>
              </a:r>
              <a:endParaRPr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89" name="Google Shape;689;g3a60bde1a51_4_68"/>
            <p:cNvSpPr/>
            <p:nvPr/>
          </p:nvSpPr>
          <p:spPr>
            <a:xfrm>
              <a:off x="5287976" y="2567208"/>
              <a:ext cx="1492200" cy="663000"/>
            </a:xfrm>
            <a:prstGeom prst="rect">
              <a:avLst/>
            </a:prstGeom>
            <a:solidFill>
              <a:srgbClr val="FFF6ED"/>
            </a:solidFill>
            <a:ln>
              <a:noFill/>
            </a:ln>
          </p:spPr>
          <p:txBody>
            <a:bodyPr spcFirstLastPara="1" wrap="square" lIns="63150" tIns="31575" rIns="63150" bIns="3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lang="zh-TW" sz="1000" b="0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ADAS、智慧座艙</a:t>
              </a:r>
              <a:endParaRPr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90" name="Google Shape;690;g3a60bde1a51_4_68"/>
            <p:cNvSpPr/>
            <p:nvPr/>
          </p:nvSpPr>
          <p:spPr>
            <a:xfrm>
              <a:off x="5287976" y="3314770"/>
              <a:ext cx="1492200" cy="663000"/>
            </a:xfrm>
            <a:prstGeom prst="rect">
              <a:avLst/>
            </a:prstGeom>
            <a:solidFill>
              <a:srgbClr val="FFF6ED"/>
            </a:solidFill>
            <a:ln>
              <a:noFill/>
            </a:ln>
          </p:spPr>
          <p:txBody>
            <a:bodyPr spcFirstLastPara="1" wrap="square" lIns="63150" tIns="31575" rIns="63150" bIns="3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lang="zh-TW" sz="1000" b="0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智能汽車</a:t>
              </a:r>
              <a:endParaRPr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91" name="Google Shape;691;g3a60bde1a51_4_68"/>
            <p:cNvSpPr/>
            <p:nvPr/>
          </p:nvSpPr>
          <p:spPr>
            <a:xfrm>
              <a:off x="5287976" y="4081170"/>
              <a:ext cx="1492200" cy="663000"/>
            </a:xfrm>
            <a:prstGeom prst="rect">
              <a:avLst/>
            </a:prstGeom>
            <a:solidFill>
              <a:srgbClr val="FFF6ED"/>
            </a:solidFill>
            <a:ln>
              <a:noFill/>
            </a:ln>
          </p:spPr>
          <p:txBody>
            <a:bodyPr spcFirstLastPara="1" wrap="square" lIns="63150" tIns="31575" rIns="63150" bIns="31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lang="zh-TW" sz="1000" b="0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高速成長</a:t>
              </a:r>
              <a:endParaRPr sz="10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sp>
        <p:nvSpPr>
          <p:cNvPr id="692" name="Google Shape;692;g3a60bde1a51_4_68"/>
          <p:cNvSpPr/>
          <p:nvPr/>
        </p:nvSpPr>
        <p:spPr>
          <a:xfrm>
            <a:off x="1755497" y="4089084"/>
            <a:ext cx="1368000" cy="313266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傳統汽車</a:t>
            </a:r>
            <a:endParaRPr sz="11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93" name="Google Shape;693;g3a60bde1a51_4_68"/>
          <p:cNvSpPr/>
          <p:nvPr/>
        </p:nvSpPr>
        <p:spPr>
          <a:xfrm>
            <a:off x="4804100" y="2689408"/>
            <a:ext cx="4116300" cy="325200"/>
          </a:xfrm>
          <a:prstGeom prst="rect">
            <a:avLst/>
          </a:prstGeom>
          <a:solidFill>
            <a:srgbClr val="F1A5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美國自動駕駛水平</a:t>
            </a:r>
            <a:endParaRPr sz="14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94" name="Google Shape;694;g3a60bde1a51_4_68"/>
          <p:cNvSpPr/>
          <p:nvPr/>
        </p:nvSpPr>
        <p:spPr>
          <a:xfrm>
            <a:off x="381340" y="2657208"/>
            <a:ext cx="4116300" cy="325200"/>
          </a:xfrm>
          <a:prstGeom prst="rect">
            <a:avLst/>
          </a:prstGeom>
          <a:solidFill>
            <a:srgbClr val="F1A5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車用晶片比較</a:t>
            </a:r>
            <a:endParaRPr sz="14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695" name="Google Shape;695;g3a60bde1a51_4_68"/>
          <p:cNvGrpSpPr/>
          <p:nvPr/>
        </p:nvGrpSpPr>
        <p:grpSpPr>
          <a:xfrm>
            <a:off x="-164" y="0"/>
            <a:ext cx="9144164" cy="330000"/>
            <a:chOff x="-5459" y="0"/>
            <a:chExt cx="9144164" cy="330000"/>
          </a:xfrm>
        </p:grpSpPr>
        <p:sp>
          <p:nvSpPr>
            <p:cNvPr id="696" name="Google Shape;696;g3a60bde1a51_4_68"/>
            <p:cNvSpPr/>
            <p:nvPr/>
          </p:nvSpPr>
          <p:spPr>
            <a:xfrm>
              <a:off x="-545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EBAA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EBAA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97" name="Google Shape;697;g3a60bde1a51_4_68"/>
            <p:cNvSpPr/>
            <p:nvPr/>
          </p:nvSpPr>
          <p:spPr>
            <a:xfrm>
              <a:off x="3434054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98" name="Google Shape;698;g3a60bde1a51_4_68"/>
            <p:cNvSpPr/>
            <p:nvPr/>
          </p:nvSpPr>
          <p:spPr>
            <a:xfrm>
              <a:off x="4580541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99" name="Google Shape;699;g3a60bde1a51_4_68"/>
            <p:cNvSpPr/>
            <p:nvPr/>
          </p:nvSpPr>
          <p:spPr>
            <a:xfrm>
              <a:off x="572702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700" name="Google Shape;700;g3a60bde1a51_4_68"/>
            <p:cNvSpPr/>
            <p:nvPr/>
          </p:nvSpPr>
          <p:spPr>
            <a:xfrm>
              <a:off x="6873517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701" name="Google Shape;701;g3a60bde1a51_4_68"/>
            <p:cNvSpPr/>
            <p:nvPr/>
          </p:nvSpPr>
          <p:spPr>
            <a:xfrm>
              <a:off x="8020005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702" name="Google Shape;702;g3a60bde1a51_4_68"/>
            <p:cNvSpPr/>
            <p:nvPr/>
          </p:nvSpPr>
          <p:spPr>
            <a:xfrm>
              <a:off x="2287550" y="0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703" name="Google Shape;703;g3a60bde1a51_4_68"/>
            <p:cNvSpPr/>
            <p:nvPr/>
          </p:nvSpPr>
          <p:spPr>
            <a:xfrm>
              <a:off x="1141062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a847d0c546_1_549"/>
          <p:cNvSpPr/>
          <p:nvPr/>
        </p:nvSpPr>
        <p:spPr>
          <a:xfrm>
            <a:off x="6265150" y="324000"/>
            <a:ext cx="303900" cy="4417500"/>
          </a:xfrm>
          <a:prstGeom prst="roundRect">
            <a:avLst>
              <a:gd name="adj" fmla="val 50000"/>
            </a:avLst>
          </a:prstGeom>
          <a:solidFill>
            <a:srgbClr val="F5E5D4"/>
          </a:solidFill>
          <a:ln>
            <a:noFill/>
          </a:ln>
          <a:effectLst>
            <a:outerShdw blurRad="241300" dist="38100" sx="102000" sy="1020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g3a847d0c546_1_549"/>
          <p:cNvSpPr/>
          <p:nvPr/>
        </p:nvSpPr>
        <p:spPr>
          <a:xfrm>
            <a:off x="58" y="0"/>
            <a:ext cx="5790300" cy="5143500"/>
          </a:xfrm>
          <a:prstGeom prst="rect">
            <a:avLst/>
          </a:prstGeom>
          <a:solidFill>
            <a:srgbClr val="F1A63B"/>
          </a:solidFill>
          <a:ln>
            <a:noFill/>
          </a:ln>
          <a:effectLst>
            <a:outerShdw blurRad="469900" dist="38100" algn="l" rotWithShape="0">
              <a:srgbClr val="000000">
                <a:alpha val="3804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782" name="Google Shape;782;g3a847d0c546_1_5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g3a847d0c546_1_549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/>
              <a:t>16</a:t>
            </a:r>
            <a:endParaRPr/>
          </a:p>
        </p:txBody>
      </p:sp>
      <p:sp>
        <p:nvSpPr>
          <p:cNvPr id="784" name="Google Shape;784;g3a847d0c546_1_549"/>
          <p:cNvSpPr txBox="1"/>
          <p:nvPr/>
        </p:nvSpPr>
        <p:spPr>
          <a:xfrm>
            <a:off x="6862496" y="703162"/>
            <a:ext cx="354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g3a847d0c546_1_549"/>
          <p:cNvSpPr/>
          <p:nvPr/>
        </p:nvSpPr>
        <p:spPr>
          <a:xfrm>
            <a:off x="6265138" y="1648650"/>
            <a:ext cx="303900" cy="1234800"/>
          </a:xfrm>
          <a:prstGeom prst="roundRect">
            <a:avLst>
              <a:gd name="adj" fmla="val 50000"/>
            </a:avLst>
          </a:prstGeom>
          <a:solidFill>
            <a:srgbClr val="7A645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g3a847d0c546_1_549"/>
          <p:cNvSpPr txBox="1"/>
          <p:nvPr/>
        </p:nvSpPr>
        <p:spPr>
          <a:xfrm>
            <a:off x="1440952" y="2260051"/>
            <a:ext cx="29085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zh-TW" sz="3600" b="1">
                <a:solidFill>
                  <a:srgbClr val="42210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成長動能</a:t>
            </a:r>
            <a:endParaRPr sz="3600" b="0" i="0" u="none" strike="noStrike" cap="none">
              <a:solidFill>
                <a:srgbClr val="42210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3a847d0c546_1_549"/>
          <p:cNvSpPr txBox="1"/>
          <p:nvPr/>
        </p:nvSpPr>
        <p:spPr>
          <a:xfrm>
            <a:off x="7097525" y="324000"/>
            <a:ext cx="1369500" cy="4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個股介紹產業概況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42210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成長動能</a:t>
            </a:r>
            <a:endParaRPr sz="2000" b="1" i="0" u="none" strike="noStrike" cap="none">
              <a:solidFill>
                <a:srgbClr val="42210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潛在風險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財務模型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附錄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ae37ffa049_0_152"/>
          <p:cNvSpPr txBox="1"/>
          <p:nvPr/>
        </p:nvSpPr>
        <p:spPr>
          <a:xfrm>
            <a:off x="727101" y="503338"/>
            <a:ext cx="7946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NVLink Fusion 開放推升世芯切入 ASIC 機會，有望擴展客戶結構</a:t>
            </a:r>
            <a:endParaRPr sz="18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26" name="Google Shape;826;g3ae37ffa049_0_152"/>
          <p:cNvSpPr/>
          <p:nvPr/>
        </p:nvSpPr>
        <p:spPr>
          <a:xfrm>
            <a:off x="356750" y="1015600"/>
            <a:ext cx="8533500" cy="1869900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827" name="Google Shape;827;g3ae37ffa049_0_1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8" name="Google Shape;828;g3ae37ffa049_0_152"/>
          <p:cNvCxnSpPr/>
          <p:nvPr/>
        </p:nvCxnSpPr>
        <p:spPr>
          <a:xfrm>
            <a:off x="356693" y="4834711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29" name="Google Shape;829;g3ae37ffa049_0_152"/>
          <p:cNvSpPr txBox="1"/>
          <p:nvPr/>
        </p:nvSpPr>
        <p:spPr>
          <a:xfrm>
            <a:off x="272774" y="4884250"/>
            <a:ext cx="31800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資料來源：世芯官網、鉅亨網、自行整理</a:t>
            </a:r>
            <a:endParaRPr sz="1100"/>
          </a:p>
        </p:txBody>
      </p:sp>
      <p:sp>
        <p:nvSpPr>
          <p:cNvPr id="830" name="Google Shape;830;g3ae37ffa049_0_152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/>
              <a:t>                                           17</a:t>
            </a:r>
            <a:endParaRPr/>
          </a:p>
        </p:txBody>
      </p:sp>
      <p:grpSp>
        <p:nvGrpSpPr>
          <p:cNvPr id="831" name="Google Shape;831;g3ae37ffa049_0_152"/>
          <p:cNvGrpSpPr/>
          <p:nvPr/>
        </p:nvGrpSpPr>
        <p:grpSpPr>
          <a:xfrm>
            <a:off x="242301" y="434035"/>
            <a:ext cx="484808" cy="484808"/>
            <a:chOff x="1628775" y="1381125"/>
            <a:chExt cx="1352700" cy="1352700"/>
          </a:xfrm>
        </p:grpSpPr>
        <p:sp>
          <p:nvSpPr>
            <p:cNvPr id="832" name="Google Shape;832;g3ae37ffa049_0_152"/>
            <p:cNvSpPr/>
            <p:nvPr/>
          </p:nvSpPr>
          <p:spPr>
            <a:xfrm>
              <a:off x="1628775" y="1381125"/>
              <a:ext cx="1352700" cy="1352700"/>
            </a:xfrm>
            <a:prstGeom prst="ellipse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33" name="Google Shape;833;g3ae37ffa049_0_15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60962" y="1929413"/>
              <a:ext cx="1134638" cy="3094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4" name="Google Shape;834;g3ae37ffa049_0_152"/>
          <p:cNvSpPr txBox="1"/>
          <p:nvPr/>
        </p:nvSpPr>
        <p:spPr>
          <a:xfrm>
            <a:off x="281163" y="1022875"/>
            <a:ext cx="8639400" cy="1803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254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l"/>
            </a:pPr>
            <a:r>
              <a:rPr 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世芯在 2.5D/3D 封裝與高頻寬介面本來就具備深厚經驗，NVLink Fusion 開放授權後，若能結合 NVLink IP 共同開發 chiplet 或 switch／bridge 類 ASIC，單一專案的 NRE 與量產價值都有機會放大，客戶結構有機會從「依賴少數 CSP 大單」轉向「圍繞 NVLink 生態服務多家雲端與 AI 系統商」。</a:t>
            </a:r>
            <a:endParaRPr lang="en-US" altLang="zh-TW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254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l"/>
            </a:pPr>
            <a:r>
              <a:rPr 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在同一生態圈中，世芯與 Astera Labs 已有合作經驗：Astera Labs 專精於 PCIe/CXL、Retimer、Memory Connectivity 等模組化互連解決方案，若其產品線在 AI/加速器伺服器中需要與 NVLink 子系統協同設計，世芯能在 2.5D 整合與 ASIC 客製化上提供後端支援，形成從高速互連 IP、封裝到客製化 SoC 的垂直整合方案。這會提升雙方在 OEM 與CSP專案的競爭力。</a:t>
            </a:r>
            <a:endParaRPr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835" name="Google Shape;835;g3ae37ffa049_0_152"/>
          <p:cNvGrpSpPr/>
          <p:nvPr/>
        </p:nvGrpSpPr>
        <p:grpSpPr>
          <a:xfrm>
            <a:off x="1988850" y="2980646"/>
            <a:ext cx="5224032" cy="1810457"/>
            <a:chOff x="2445414" y="3832958"/>
            <a:chExt cx="3873096" cy="1248763"/>
          </a:xfrm>
        </p:grpSpPr>
        <p:sp>
          <p:nvSpPr>
            <p:cNvPr id="836" name="Google Shape;836;g3ae37ffa049_0_152"/>
            <p:cNvSpPr/>
            <p:nvPr/>
          </p:nvSpPr>
          <p:spPr>
            <a:xfrm>
              <a:off x="3608893" y="4272140"/>
              <a:ext cx="1421100" cy="317100"/>
            </a:xfrm>
            <a:prstGeom prst="flowChartConnector">
              <a:avLst/>
            </a:prstGeom>
            <a:solidFill>
              <a:srgbClr val="F1A63B"/>
            </a:solidFill>
            <a:ln w="25400" cap="flat" cmpd="sng">
              <a:solidFill>
                <a:srgbClr val="F1A6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00" b="1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NVLink Fusion</a:t>
              </a:r>
              <a:endParaRPr sz="13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837" name="Google Shape;837;g3ae37ffa049_0_152"/>
            <p:cNvSpPr/>
            <p:nvPr/>
          </p:nvSpPr>
          <p:spPr>
            <a:xfrm>
              <a:off x="3971653" y="3832958"/>
              <a:ext cx="695700" cy="3171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F1A53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b="1" i="0" u="none" strike="noStrike" cap="none">
                  <a:solidFill>
                    <a:srgbClr val="0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世芯</a:t>
              </a:r>
              <a:endParaRPr sz="1700" b="1"/>
            </a:p>
          </p:txBody>
        </p:sp>
        <p:sp>
          <p:nvSpPr>
            <p:cNvPr id="838" name="Google Shape;838;g3ae37ffa049_0_152"/>
            <p:cNvSpPr/>
            <p:nvPr/>
          </p:nvSpPr>
          <p:spPr>
            <a:xfrm>
              <a:off x="5126472" y="3931828"/>
              <a:ext cx="944100" cy="3171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F1A53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400" b="1" i="0" u="none" strike="noStrike" cap="none">
                  <a:solidFill>
                    <a:srgbClr val="4D4D4C"/>
                  </a:solidFill>
                </a:rPr>
                <a:t>Marvell</a:t>
              </a:r>
              <a:endParaRPr sz="1400" b="1" i="0" u="none" strike="noStrike" cap="none">
                <a:solidFill>
                  <a:srgbClr val="FFFFFF"/>
                </a:solidFill>
              </a:endParaRPr>
            </a:p>
          </p:txBody>
        </p:sp>
        <p:sp>
          <p:nvSpPr>
            <p:cNvPr id="839" name="Google Shape;839;g3ae37ffa049_0_152"/>
            <p:cNvSpPr/>
            <p:nvPr/>
          </p:nvSpPr>
          <p:spPr>
            <a:xfrm>
              <a:off x="2478976" y="4630495"/>
              <a:ext cx="1021200" cy="3171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F1A53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400" b="1" i="0" u="none" strike="noStrike" cap="none">
                  <a:solidFill>
                    <a:srgbClr val="4D4D4C"/>
                  </a:solidFill>
                </a:rPr>
                <a:t>Cadence</a:t>
              </a:r>
              <a:endParaRPr sz="1400" b="1" i="0" u="none" strike="noStrike" cap="none">
                <a:solidFill>
                  <a:srgbClr val="FFFFFF"/>
                </a:solidFill>
              </a:endParaRPr>
            </a:p>
          </p:txBody>
        </p:sp>
        <p:sp>
          <p:nvSpPr>
            <p:cNvPr id="840" name="Google Shape;840;g3ae37ffa049_0_152"/>
            <p:cNvSpPr/>
            <p:nvPr/>
          </p:nvSpPr>
          <p:spPr>
            <a:xfrm>
              <a:off x="5155110" y="4630502"/>
              <a:ext cx="1163400" cy="3171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F1A53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400" b="1" i="0" u="none" strike="noStrike" cap="none">
                  <a:solidFill>
                    <a:srgbClr val="4D4D4C"/>
                  </a:solidFill>
                </a:rPr>
                <a:t>MediaTek</a:t>
              </a:r>
              <a:endParaRPr sz="1400" b="1" i="0" u="none" strike="noStrike" cap="none">
                <a:solidFill>
                  <a:srgbClr val="FFFFFF"/>
                </a:solidFill>
              </a:endParaRPr>
            </a:p>
          </p:txBody>
        </p:sp>
        <p:sp>
          <p:nvSpPr>
            <p:cNvPr id="841" name="Google Shape;841;g3ae37ffa049_0_152"/>
            <p:cNvSpPr/>
            <p:nvPr/>
          </p:nvSpPr>
          <p:spPr>
            <a:xfrm>
              <a:off x="3790333" y="4720017"/>
              <a:ext cx="1074600" cy="3171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F1A53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400" b="1" i="0" u="none" strike="noStrike" cap="none">
                  <a:solidFill>
                    <a:srgbClr val="4D4D4C"/>
                  </a:solidFill>
                </a:rPr>
                <a:t>Synopsys</a:t>
              </a:r>
              <a:endParaRPr sz="1400" b="1" i="0" u="none" strike="noStrike" cap="none">
                <a:solidFill>
                  <a:srgbClr val="FFFFFF"/>
                </a:solidFill>
              </a:endParaRPr>
            </a:p>
          </p:txBody>
        </p:sp>
        <p:cxnSp>
          <p:nvCxnSpPr>
            <p:cNvPr id="842" name="Google Shape;842;g3ae37ffa049_0_152"/>
            <p:cNvCxnSpPr>
              <a:stCxn id="836" idx="1"/>
              <a:endCxn id="843" idx="5"/>
            </p:cNvCxnSpPr>
            <p:nvPr/>
          </p:nvCxnSpPr>
          <p:spPr>
            <a:xfrm rot="10800000">
              <a:off x="3397608" y="4202178"/>
              <a:ext cx="419400" cy="116400"/>
            </a:xfrm>
            <a:prstGeom prst="straightConnector1">
              <a:avLst/>
            </a:prstGeom>
            <a:noFill/>
            <a:ln w="19050" cap="flat" cmpd="sng">
              <a:solidFill>
                <a:srgbClr val="F1A53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44" name="Google Shape;844;g3ae37ffa049_0_152"/>
            <p:cNvCxnSpPr>
              <a:stCxn id="836" idx="0"/>
              <a:endCxn id="837" idx="4"/>
            </p:cNvCxnSpPr>
            <p:nvPr/>
          </p:nvCxnSpPr>
          <p:spPr>
            <a:xfrm rot="10800000">
              <a:off x="4319443" y="4150040"/>
              <a:ext cx="0" cy="122100"/>
            </a:xfrm>
            <a:prstGeom prst="straightConnector1">
              <a:avLst/>
            </a:prstGeom>
            <a:noFill/>
            <a:ln w="19050" cap="flat" cmpd="sng">
              <a:solidFill>
                <a:srgbClr val="F1A53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45" name="Google Shape;845;g3ae37ffa049_0_152"/>
            <p:cNvCxnSpPr>
              <a:stCxn id="836" idx="7"/>
              <a:endCxn id="838" idx="3"/>
            </p:cNvCxnSpPr>
            <p:nvPr/>
          </p:nvCxnSpPr>
          <p:spPr>
            <a:xfrm rot="10800000" flipH="1">
              <a:off x="4821878" y="4202478"/>
              <a:ext cx="442800" cy="116100"/>
            </a:xfrm>
            <a:prstGeom prst="straightConnector1">
              <a:avLst/>
            </a:prstGeom>
            <a:noFill/>
            <a:ln w="19050" cap="flat" cmpd="sng">
              <a:solidFill>
                <a:srgbClr val="F1A53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46" name="Google Shape;846;g3ae37ffa049_0_152"/>
            <p:cNvCxnSpPr>
              <a:stCxn id="836" idx="3"/>
              <a:endCxn id="839" idx="7"/>
            </p:cNvCxnSpPr>
            <p:nvPr/>
          </p:nvCxnSpPr>
          <p:spPr>
            <a:xfrm flipH="1">
              <a:off x="3350508" y="4542802"/>
              <a:ext cx="466500" cy="134100"/>
            </a:xfrm>
            <a:prstGeom prst="straightConnector1">
              <a:avLst/>
            </a:prstGeom>
            <a:noFill/>
            <a:ln w="19050" cap="flat" cmpd="sng">
              <a:solidFill>
                <a:srgbClr val="F1A53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47" name="Google Shape;847;g3ae37ffa049_0_152"/>
            <p:cNvCxnSpPr>
              <a:stCxn id="836" idx="4"/>
              <a:endCxn id="841" idx="0"/>
            </p:cNvCxnSpPr>
            <p:nvPr/>
          </p:nvCxnSpPr>
          <p:spPr>
            <a:xfrm>
              <a:off x="4319443" y="4589240"/>
              <a:ext cx="8100" cy="130800"/>
            </a:xfrm>
            <a:prstGeom prst="straightConnector1">
              <a:avLst/>
            </a:prstGeom>
            <a:noFill/>
            <a:ln w="19050" cap="flat" cmpd="sng">
              <a:solidFill>
                <a:srgbClr val="F1A53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48" name="Google Shape;848;g3ae37ffa049_0_152"/>
            <p:cNvCxnSpPr>
              <a:stCxn id="836" idx="5"/>
              <a:endCxn id="840" idx="1"/>
            </p:cNvCxnSpPr>
            <p:nvPr/>
          </p:nvCxnSpPr>
          <p:spPr>
            <a:xfrm>
              <a:off x="4821878" y="4542802"/>
              <a:ext cx="503700" cy="134100"/>
            </a:xfrm>
            <a:prstGeom prst="straightConnector1">
              <a:avLst/>
            </a:prstGeom>
            <a:noFill/>
            <a:ln w="19050" cap="flat" cmpd="sng">
              <a:solidFill>
                <a:srgbClr val="F1A53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849" name="Google Shape;849;g3ae37ffa049_0_152"/>
            <p:cNvSpPr txBox="1"/>
            <p:nvPr/>
          </p:nvSpPr>
          <p:spPr>
            <a:xfrm>
              <a:off x="4746270" y="4901122"/>
              <a:ext cx="869700" cy="1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100" b="1" i="0" u="none" strike="noStrike" cap="none">
                  <a:solidFill>
                    <a:srgbClr val="4D4D4C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#IP供應商</a:t>
              </a:r>
              <a:endParaRPr sz="11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850" name="Google Shape;850;g3ae37ffa049_0_152"/>
            <p:cNvSpPr txBox="1"/>
            <p:nvPr/>
          </p:nvSpPr>
          <p:spPr>
            <a:xfrm>
              <a:off x="2445414" y="4488150"/>
              <a:ext cx="765600" cy="1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100" b="1" i="0" u="none" strike="noStrike" cap="none">
                  <a:solidFill>
                    <a:srgbClr val="4D4D4C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#EDA工具</a:t>
              </a:r>
              <a:endParaRPr sz="11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843" name="Google Shape;843;g3ae37ffa049_0_152"/>
            <p:cNvSpPr/>
            <p:nvPr/>
          </p:nvSpPr>
          <p:spPr>
            <a:xfrm>
              <a:off x="2726635" y="3931392"/>
              <a:ext cx="786000" cy="3171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F1A53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b="1" i="0" u="none" strike="noStrike" cap="none">
                  <a:solidFill>
                    <a:srgbClr val="4D4D4C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Astera</a:t>
              </a:r>
              <a:endParaRPr b="1" i="0" u="none" strike="noStrike" cap="none">
                <a:solidFill>
                  <a:srgbClr val="4D4D4C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b="1" i="0" u="none" strike="noStrike" cap="none">
                  <a:solidFill>
                    <a:srgbClr val="4D4D4C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Labs</a:t>
              </a:r>
              <a:endParaRPr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grpSp>
        <p:nvGrpSpPr>
          <p:cNvPr id="851" name="Google Shape;851;g3ae37ffa049_0_152"/>
          <p:cNvGrpSpPr/>
          <p:nvPr/>
        </p:nvGrpSpPr>
        <p:grpSpPr>
          <a:xfrm>
            <a:off x="-76" y="7275"/>
            <a:ext cx="9144164" cy="330000"/>
            <a:chOff x="-76" y="7275"/>
            <a:chExt cx="9144164" cy="330000"/>
          </a:xfrm>
        </p:grpSpPr>
        <p:sp>
          <p:nvSpPr>
            <p:cNvPr id="852" name="Google Shape;852;g3ae37ffa049_0_152"/>
            <p:cNvSpPr/>
            <p:nvPr/>
          </p:nvSpPr>
          <p:spPr>
            <a:xfrm>
              <a:off x="-77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EBAA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EBAA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853" name="Google Shape;853;g3ae37ffa049_0_152"/>
            <p:cNvSpPr/>
            <p:nvPr/>
          </p:nvSpPr>
          <p:spPr>
            <a:xfrm>
              <a:off x="3439437" y="7275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854" name="Google Shape;854;g3ae37ffa049_0_152"/>
            <p:cNvSpPr/>
            <p:nvPr/>
          </p:nvSpPr>
          <p:spPr>
            <a:xfrm>
              <a:off x="4585924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855" name="Google Shape;855;g3ae37ffa049_0_152"/>
            <p:cNvSpPr/>
            <p:nvPr/>
          </p:nvSpPr>
          <p:spPr>
            <a:xfrm>
              <a:off x="5732412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856" name="Google Shape;856;g3ae37ffa049_0_152"/>
            <p:cNvSpPr/>
            <p:nvPr/>
          </p:nvSpPr>
          <p:spPr>
            <a:xfrm>
              <a:off x="6878899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857" name="Google Shape;857;g3ae37ffa049_0_152"/>
            <p:cNvSpPr/>
            <p:nvPr/>
          </p:nvSpPr>
          <p:spPr>
            <a:xfrm>
              <a:off x="8025388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858" name="Google Shape;858;g3ae37ffa049_0_152"/>
            <p:cNvSpPr/>
            <p:nvPr/>
          </p:nvSpPr>
          <p:spPr>
            <a:xfrm>
              <a:off x="2292933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859" name="Google Shape;859;g3ae37ffa049_0_152"/>
            <p:cNvSpPr/>
            <p:nvPr/>
          </p:nvSpPr>
          <p:spPr>
            <a:xfrm>
              <a:off x="1146445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" name="Google Shape;890;g3ab74d67359_0_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1" name="Google Shape;891;g3ab74d67359_0_32"/>
          <p:cNvGrpSpPr/>
          <p:nvPr/>
        </p:nvGrpSpPr>
        <p:grpSpPr>
          <a:xfrm>
            <a:off x="242301" y="434035"/>
            <a:ext cx="484808" cy="484808"/>
            <a:chOff x="1628775" y="1381125"/>
            <a:chExt cx="1352700" cy="1352700"/>
          </a:xfrm>
        </p:grpSpPr>
        <p:sp>
          <p:nvSpPr>
            <p:cNvPr id="892" name="Google Shape;892;g3ab74d67359_0_32"/>
            <p:cNvSpPr/>
            <p:nvPr/>
          </p:nvSpPr>
          <p:spPr>
            <a:xfrm>
              <a:off x="1628775" y="1381125"/>
              <a:ext cx="1352700" cy="1352700"/>
            </a:xfrm>
            <a:prstGeom prst="ellipse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pic>
          <p:nvPicPr>
            <p:cNvPr id="893" name="Google Shape;893;g3ab74d67359_0_3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60962" y="1929413"/>
              <a:ext cx="1134638" cy="3094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94" name="Google Shape;894;g3ab74d67359_0_32"/>
          <p:cNvSpPr txBox="1"/>
          <p:nvPr/>
        </p:nvSpPr>
        <p:spPr>
          <a:xfrm>
            <a:off x="758076" y="490188"/>
            <a:ext cx="7946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dirty="0">
                <a:solidFill>
                  <a:srgbClr val="303030"/>
                </a:solidFill>
                <a:highlight>
                  <a:srgbClr val="FF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AWS Trainium3 3nm專案預計於 2026 Q2 放量，貢獻 65% 營收增長</a:t>
            </a:r>
            <a:endParaRPr sz="180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</p:txBody>
      </p:sp>
      <p:cxnSp>
        <p:nvCxnSpPr>
          <p:cNvPr id="895" name="Google Shape;895;g3ab74d67359_0_32"/>
          <p:cNvCxnSpPr/>
          <p:nvPr/>
        </p:nvCxnSpPr>
        <p:spPr>
          <a:xfrm>
            <a:off x="356693" y="4834711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96" name="Google Shape;896;g3ab74d67359_0_32"/>
          <p:cNvSpPr txBox="1"/>
          <p:nvPr/>
        </p:nvSpPr>
        <p:spPr>
          <a:xfrm>
            <a:off x="272775" y="4884250"/>
            <a:ext cx="38208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資料來源：凱基證券、</a:t>
            </a:r>
            <a:r>
              <a:rPr lang="zh-TW" sz="1100" b="1" dirty="0">
                <a:solidFill>
                  <a:srgbClr val="252526"/>
                </a:solidFill>
                <a:highlight>
                  <a:srgbClr val="FF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J.P. Morgan、Morgan Stanley</a:t>
            </a:r>
            <a:endParaRPr sz="1100" b="1" dirty="0">
              <a:solidFill>
                <a:srgbClr val="252526"/>
              </a:solidFill>
              <a:highlight>
                <a:srgbClr val="FFFFFF"/>
              </a:highlight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</p:txBody>
      </p:sp>
      <p:sp>
        <p:nvSpPr>
          <p:cNvPr id="897" name="Google Shape;897;g3ab74d67359_0_32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18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98" name="Google Shape;898;g3ab74d67359_0_32"/>
          <p:cNvSpPr/>
          <p:nvPr/>
        </p:nvSpPr>
        <p:spPr>
          <a:xfrm>
            <a:off x="664485" y="2266793"/>
            <a:ext cx="3938788" cy="330000"/>
          </a:xfrm>
          <a:prstGeom prst="rect">
            <a:avLst/>
          </a:prstGeom>
          <a:solidFill>
            <a:srgbClr val="F1A63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世芯 2025-2027 預計營收及年增率趨勢</a:t>
            </a:r>
            <a:endParaRPr sz="11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99" name="Google Shape;899;g3ab74d67359_0_32"/>
          <p:cNvSpPr/>
          <p:nvPr/>
        </p:nvSpPr>
        <p:spPr>
          <a:xfrm>
            <a:off x="4936566" y="2260531"/>
            <a:ext cx="4025400" cy="330000"/>
          </a:xfrm>
          <a:prstGeom prst="rect">
            <a:avLst/>
          </a:prstGeom>
          <a:solidFill>
            <a:srgbClr val="F1A5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2026 世芯主要客戶預計貢獻營收比例</a:t>
            </a:r>
            <a:endParaRPr b="1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</p:txBody>
      </p:sp>
      <p:sp>
        <p:nvSpPr>
          <p:cNvPr id="900" name="Google Shape;900;g3ab74d67359_0_32"/>
          <p:cNvSpPr/>
          <p:nvPr/>
        </p:nvSpPr>
        <p:spPr>
          <a:xfrm>
            <a:off x="659175" y="870450"/>
            <a:ext cx="8302800" cy="1362300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901" name="Google Shape;901;g3ab74d67359_0_32"/>
          <p:cNvSpPr txBox="1"/>
          <p:nvPr/>
        </p:nvSpPr>
        <p:spPr>
          <a:xfrm>
            <a:off x="664474" y="870438"/>
            <a:ext cx="8297491" cy="13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TW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世芯與主要客戶 AWS 在 3nm 製程上的 AI ASIC 專案 Trainium 3 預計將於 2026 Q2 開始量產，帶來巨大的 Turnkey 營收成長。預計 Trainium 3 在其生命週期 2026-2027 將貢獻超過 10 億美元的營收。因為複雜的</a:t>
            </a:r>
            <a:r>
              <a:rPr lang="zh-TW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"/>
                  </a:ext>
                </a:extLst>
              </a:rPr>
              <a:t>封</a:t>
            </a:r>
            <a:r>
              <a:rPr lang="zh-TW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裝（包含兩個運算裸晶和兩個 I/O 裸晶)，Trainium3 預計的晶片單價可能達到 4,000 至5,000 美元。當前並預期 Trainium 3 量產營收將占世芯2026 全年營收約 60%-65%。 此外，世芯也正與 AWS 2nm Trainium 4 後續專案進行大量合作，有望承接此專案的後端設計。即使該 2nm 專案需要多次試產，預計在 2027 年底開始小量生產，營收貢獻預計要到 2028 年才會產生。</a:t>
            </a:r>
            <a:endParaRPr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</p:txBody>
      </p:sp>
      <p:pic>
        <p:nvPicPr>
          <p:cNvPr id="902" name="Google Shape;902;g3ab74d67359_0_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174" y="2598148"/>
            <a:ext cx="3938789" cy="2187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3" name="Google Shape;903;g3ab74d67359_0_32"/>
          <p:cNvGrpSpPr/>
          <p:nvPr/>
        </p:nvGrpSpPr>
        <p:grpSpPr>
          <a:xfrm>
            <a:off x="-5276" y="13925"/>
            <a:ext cx="9144164" cy="330000"/>
            <a:chOff x="-76" y="7275"/>
            <a:chExt cx="9144164" cy="330000"/>
          </a:xfrm>
        </p:grpSpPr>
        <p:sp>
          <p:nvSpPr>
            <p:cNvPr id="904" name="Google Shape;904;g3ab74d67359_0_32"/>
            <p:cNvSpPr/>
            <p:nvPr/>
          </p:nvSpPr>
          <p:spPr>
            <a:xfrm>
              <a:off x="-77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EBAA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EBA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endParaRPr>
            </a:p>
          </p:txBody>
        </p:sp>
        <p:sp>
          <p:nvSpPr>
            <p:cNvPr id="905" name="Google Shape;905;g3ab74d67359_0_32"/>
            <p:cNvSpPr/>
            <p:nvPr/>
          </p:nvSpPr>
          <p:spPr>
            <a:xfrm>
              <a:off x="3439437" y="7275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endParaRPr>
            </a:p>
          </p:txBody>
        </p:sp>
        <p:sp>
          <p:nvSpPr>
            <p:cNvPr id="906" name="Google Shape;906;g3ab74d67359_0_32"/>
            <p:cNvSpPr/>
            <p:nvPr/>
          </p:nvSpPr>
          <p:spPr>
            <a:xfrm>
              <a:off x="4585924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rgbClr val="C9B4A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endParaRPr>
            </a:p>
          </p:txBody>
        </p:sp>
        <p:sp>
          <p:nvSpPr>
            <p:cNvPr id="907" name="Google Shape;907;g3ab74d67359_0_32"/>
            <p:cNvSpPr/>
            <p:nvPr/>
          </p:nvSpPr>
          <p:spPr>
            <a:xfrm>
              <a:off x="5732412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endParaRPr>
            </a:p>
          </p:txBody>
        </p:sp>
        <p:sp>
          <p:nvSpPr>
            <p:cNvPr id="908" name="Google Shape;908;g3ab74d67359_0_32"/>
            <p:cNvSpPr/>
            <p:nvPr/>
          </p:nvSpPr>
          <p:spPr>
            <a:xfrm>
              <a:off x="6878899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endParaRPr>
            </a:p>
          </p:txBody>
        </p:sp>
        <p:sp>
          <p:nvSpPr>
            <p:cNvPr id="909" name="Google Shape;909;g3ab74d67359_0_32"/>
            <p:cNvSpPr/>
            <p:nvPr/>
          </p:nvSpPr>
          <p:spPr>
            <a:xfrm>
              <a:off x="8025388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endParaRPr>
            </a:p>
          </p:txBody>
        </p:sp>
        <p:sp>
          <p:nvSpPr>
            <p:cNvPr id="910" name="Google Shape;910;g3ab74d67359_0_32"/>
            <p:cNvSpPr/>
            <p:nvPr/>
          </p:nvSpPr>
          <p:spPr>
            <a:xfrm>
              <a:off x="2292933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rgbClr val="C9B4A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endParaRPr>
            </a:p>
          </p:txBody>
        </p:sp>
        <p:sp>
          <p:nvSpPr>
            <p:cNvPr id="911" name="Google Shape;911;g3ab74d67359_0_32"/>
            <p:cNvSpPr/>
            <p:nvPr/>
          </p:nvSpPr>
          <p:spPr>
            <a:xfrm>
              <a:off x="1146445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rgbClr val="C9B4A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endParaRPr>
            </a:p>
          </p:txBody>
        </p: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A9D84AC8-445B-111C-46E6-0109D63C9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171" y="2588114"/>
            <a:ext cx="3670904" cy="218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8" name="Google Shape;918;ge25abb71e01d26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9" name="Google Shape;919;ge25abb71e01d26_0"/>
          <p:cNvGrpSpPr/>
          <p:nvPr/>
        </p:nvGrpSpPr>
        <p:grpSpPr>
          <a:xfrm>
            <a:off x="242301" y="434035"/>
            <a:ext cx="484808" cy="484808"/>
            <a:chOff x="1628775" y="1381125"/>
            <a:chExt cx="1352700" cy="1352700"/>
          </a:xfrm>
        </p:grpSpPr>
        <p:sp>
          <p:nvSpPr>
            <p:cNvPr id="920" name="Google Shape;920;ge25abb71e01d26_0"/>
            <p:cNvSpPr/>
            <p:nvPr/>
          </p:nvSpPr>
          <p:spPr>
            <a:xfrm>
              <a:off x="1628775" y="1381125"/>
              <a:ext cx="1352700" cy="1352700"/>
            </a:xfrm>
            <a:prstGeom prst="ellipse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21" name="Google Shape;921;ge25abb71e01d26_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60962" y="1929413"/>
              <a:ext cx="1134638" cy="3094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2" name="Google Shape;922;ge25abb71e01d26_0"/>
          <p:cNvSpPr txBox="1"/>
          <p:nvPr/>
        </p:nvSpPr>
        <p:spPr>
          <a:xfrm>
            <a:off x="727101" y="503338"/>
            <a:ext cx="7946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世芯在 2nm 進度超前</a:t>
            </a:r>
            <a:endParaRPr sz="1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923" name="Google Shape;923;ge25abb71e01d26_0"/>
          <p:cNvCxnSpPr/>
          <p:nvPr/>
        </p:nvCxnSpPr>
        <p:spPr>
          <a:xfrm>
            <a:off x="356693" y="4834711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24" name="Google Shape;924;ge25abb71e01d26_0"/>
          <p:cNvSpPr txBox="1"/>
          <p:nvPr/>
        </p:nvSpPr>
        <p:spPr>
          <a:xfrm>
            <a:off x="272774" y="4884250"/>
            <a:ext cx="3105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資料來源：Morgan Stanley, 富邦</a:t>
            </a:r>
            <a:endParaRPr sz="1100"/>
          </a:p>
        </p:txBody>
      </p:sp>
      <p:sp>
        <p:nvSpPr>
          <p:cNvPr id="925" name="Google Shape;925;ge25abb71e01d26_0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/>
              <a:t>                                         19 </a:t>
            </a:r>
            <a:endParaRPr/>
          </a:p>
        </p:txBody>
      </p:sp>
      <p:sp>
        <p:nvSpPr>
          <p:cNvPr id="926" name="Google Shape;926;ge25abb71e01d26_0"/>
          <p:cNvSpPr/>
          <p:nvPr/>
        </p:nvSpPr>
        <p:spPr>
          <a:xfrm>
            <a:off x="439700" y="990475"/>
            <a:ext cx="8254200" cy="957660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ge25abb71e01d26_0"/>
          <p:cNvSpPr txBox="1"/>
          <p:nvPr/>
        </p:nvSpPr>
        <p:spPr>
          <a:xfrm>
            <a:off x="461243" y="999832"/>
            <a:ext cx="8212258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世芯目前在 2nm 晶片戰中有望成為 Trainium 4 唯一的設計服務供應商，進度超前其他台廠。世芯已明確報告協助完成測試晶片並規劃 2026 年流片，遠超同業目前藍圖規劃階段。此外，在 2nm CPO 導入方面，雖然尚未確定Trainium 4 CPO 進度，但世芯已與 Ayar Labs 建立合作夥伴關係，為未來可能的光學小晶片選用做好準備。</a:t>
            </a:r>
            <a:endParaRPr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928" name="Google Shape;928;ge25abb71e01d26_0"/>
          <p:cNvGraphicFramePr/>
          <p:nvPr>
            <p:extLst>
              <p:ext uri="{D42A27DB-BD31-4B8C-83A1-F6EECF244321}">
                <p14:modId xmlns:p14="http://schemas.microsoft.com/office/powerpoint/2010/main" val="2917904537"/>
              </p:ext>
            </p:extLst>
          </p:nvPr>
        </p:nvGraphicFramePr>
        <p:xfrm>
          <a:off x="419301" y="2029124"/>
          <a:ext cx="8254200" cy="2628192"/>
        </p:xfrm>
        <a:graphic>
          <a:graphicData uri="http://schemas.openxmlformats.org/drawingml/2006/table">
            <a:tbl>
              <a:tblPr>
                <a:noFill/>
                <a:tableStyleId>{F4154C39-7483-4B66-9DE6-2F6D77CEC586}</a:tableStyleId>
              </a:tblPr>
              <a:tblGrid>
                <a:gridCol w="18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6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各廠2nm比較</a:t>
                      </a:r>
                      <a:endParaRPr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2nm 進度預估</a:t>
                      </a:r>
                      <a:endParaRPr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Turnkey / NRE 潛力</a:t>
                      </a:r>
                      <a:endParaRPr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83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世芯-KY </a:t>
                      </a:r>
                      <a:endParaRPr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已測試；2026 Tape-out；2027 年底小量產</a:t>
                      </a:r>
                      <a:endParaRPr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潛在的 2nm NRE 收入被列為驅動公司年營收年增長超過 100% 的主要動力之一 (</a:t>
                      </a:r>
                      <a:r>
                        <a:rPr lang="zh-TW" altLang="en-US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2026</a:t>
                      </a:r>
                      <a:r>
                        <a:rPr lang="zh-TW" altLang="en-US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42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創意</a:t>
                      </a:r>
                      <a:endParaRPr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藍圖規劃階段</a:t>
                      </a:r>
                      <a:endParaRPr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Tesla AI6 (3nm) Turnkey 預計貢獻高達 20-30 億美元營收 (</a:t>
                      </a:r>
                      <a:r>
                        <a:rPr lang="zh-TW" altLang="en-US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2027</a:t>
                      </a:r>
                      <a:r>
                        <a:rPr lang="zh-TW" altLang="en-US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25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聯發科</a:t>
                      </a:r>
                      <a:endParaRPr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藍圖規劃階段</a:t>
                      </a:r>
                      <a:endParaRPr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Google TPU v8e (3nm) Turnkey 總潛在市場規模可能超過 40 億美元 (</a:t>
                      </a:r>
                      <a:r>
                        <a:rPr lang="zh-TW" altLang="en-US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2026-2027</a:t>
                      </a:r>
                      <a:r>
                        <a:rPr lang="zh-TW" altLang="en-US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29" name="Google Shape;929;ge25abb71e01d26_0"/>
          <p:cNvGrpSpPr/>
          <p:nvPr/>
        </p:nvGrpSpPr>
        <p:grpSpPr>
          <a:xfrm>
            <a:off x="-76" y="7275"/>
            <a:ext cx="9144164" cy="330000"/>
            <a:chOff x="-76" y="7275"/>
            <a:chExt cx="9144164" cy="330000"/>
          </a:xfrm>
        </p:grpSpPr>
        <p:sp>
          <p:nvSpPr>
            <p:cNvPr id="930" name="Google Shape;930;ge25abb71e01d26_0"/>
            <p:cNvSpPr/>
            <p:nvPr/>
          </p:nvSpPr>
          <p:spPr>
            <a:xfrm>
              <a:off x="-77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EBAA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EBAA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931" name="Google Shape;931;ge25abb71e01d26_0"/>
            <p:cNvSpPr/>
            <p:nvPr/>
          </p:nvSpPr>
          <p:spPr>
            <a:xfrm>
              <a:off x="3439437" y="7275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932" name="Google Shape;932;ge25abb71e01d26_0"/>
            <p:cNvSpPr/>
            <p:nvPr/>
          </p:nvSpPr>
          <p:spPr>
            <a:xfrm>
              <a:off x="4585924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933" name="Google Shape;933;ge25abb71e01d26_0"/>
            <p:cNvSpPr/>
            <p:nvPr/>
          </p:nvSpPr>
          <p:spPr>
            <a:xfrm>
              <a:off x="5732412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934" name="Google Shape;934;ge25abb71e01d26_0"/>
            <p:cNvSpPr/>
            <p:nvPr/>
          </p:nvSpPr>
          <p:spPr>
            <a:xfrm>
              <a:off x="6878899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935" name="Google Shape;935;ge25abb71e01d26_0"/>
            <p:cNvSpPr/>
            <p:nvPr/>
          </p:nvSpPr>
          <p:spPr>
            <a:xfrm>
              <a:off x="8025388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936" name="Google Shape;936;ge25abb71e01d26_0"/>
            <p:cNvSpPr/>
            <p:nvPr/>
          </p:nvSpPr>
          <p:spPr>
            <a:xfrm>
              <a:off x="2292933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937" name="Google Shape;937;ge25abb71e01d26_0"/>
            <p:cNvSpPr/>
            <p:nvPr/>
          </p:nvSpPr>
          <p:spPr>
            <a:xfrm>
              <a:off x="1146445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3" name="Google Shape;943;g592a0c91a4547f2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4" name="Google Shape;944;g592a0c91a4547f2_0"/>
          <p:cNvGrpSpPr/>
          <p:nvPr/>
        </p:nvGrpSpPr>
        <p:grpSpPr>
          <a:xfrm>
            <a:off x="242301" y="434035"/>
            <a:ext cx="484808" cy="484808"/>
            <a:chOff x="1628775" y="1381125"/>
            <a:chExt cx="1352700" cy="1352700"/>
          </a:xfrm>
        </p:grpSpPr>
        <p:sp>
          <p:nvSpPr>
            <p:cNvPr id="945" name="Google Shape;945;g592a0c91a4547f2_0"/>
            <p:cNvSpPr/>
            <p:nvPr/>
          </p:nvSpPr>
          <p:spPr>
            <a:xfrm>
              <a:off x="1628775" y="1381125"/>
              <a:ext cx="1352700" cy="1352700"/>
            </a:xfrm>
            <a:prstGeom prst="ellipse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46" name="Google Shape;946;g592a0c91a4547f2_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60962" y="1929413"/>
              <a:ext cx="1134638" cy="3094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7" name="Google Shape;947;g592a0c91a4547f2_0"/>
          <p:cNvSpPr txBox="1"/>
          <p:nvPr/>
        </p:nvSpPr>
        <p:spPr>
          <a:xfrm>
            <a:off x="727101" y="563563"/>
            <a:ext cx="79464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303030"/>
                </a:solidFill>
                <a:highlight>
                  <a:srgbClr val="FFFFFF"/>
                </a:highlight>
              </a:rPr>
              <a:t>Trainium 4 後續專案的強勁參與</a:t>
            </a:r>
            <a:endParaRPr sz="22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948" name="Google Shape;948;g592a0c91a4547f2_0"/>
          <p:cNvCxnSpPr/>
          <p:nvPr/>
        </p:nvCxnSpPr>
        <p:spPr>
          <a:xfrm>
            <a:off x="356693" y="4834711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9" name="Google Shape;949;g592a0c91a4547f2_0"/>
          <p:cNvSpPr txBox="1"/>
          <p:nvPr/>
        </p:nvSpPr>
        <p:spPr>
          <a:xfrm>
            <a:off x="272775" y="4884250"/>
            <a:ext cx="44064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資料來源：JP Morgan, Morgan Stanley、中信投顧、統一投顧</a:t>
            </a:r>
            <a:endParaRPr sz="11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50" name="Google Shape;950;g592a0c91a4547f2_0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/>
              <a:t>20</a:t>
            </a:r>
            <a:endParaRPr/>
          </a:p>
        </p:txBody>
      </p:sp>
      <p:sp>
        <p:nvSpPr>
          <p:cNvPr id="951" name="Google Shape;951;g592a0c91a4547f2_0"/>
          <p:cNvSpPr/>
          <p:nvPr/>
        </p:nvSpPr>
        <p:spPr>
          <a:xfrm>
            <a:off x="439168" y="2546777"/>
            <a:ext cx="3975351" cy="330000"/>
          </a:xfrm>
          <a:prstGeom prst="rect">
            <a:avLst/>
          </a:prstGeom>
          <a:solidFill>
            <a:srgbClr val="F1A63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TW" b="1">
                <a:latin typeface="Microsoft JhengHei"/>
                <a:ea typeface="Microsoft JhengHei"/>
                <a:cs typeface="Microsoft JhengHei"/>
                <a:sym typeface="Microsoft JhengHei"/>
              </a:rPr>
              <a:t>2025-2026預計營收及毛利率</a:t>
            </a:r>
            <a:endParaRPr b="1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52" name="Google Shape;952;g592a0c91a4547f2_0"/>
          <p:cNvSpPr/>
          <p:nvPr/>
        </p:nvSpPr>
        <p:spPr>
          <a:xfrm>
            <a:off x="4638040" y="2534836"/>
            <a:ext cx="4151690" cy="330000"/>
          </a:xfrm>
          <a:prstGeom prst="rect">
            <a:avLst/>
          </a:prstGeom>
          <a:solidFill>
            <a:srgbClr val="F1A5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世芯電子業界首個汽車 ASIC 平台中所含模組</a:t>
            </a:r>
            <a:endParaRPr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53" name="Google Shape;953;g592a0c91a4547f2_0"/>
          <p:cNvSpPr/>
          <p:nvPr/>
        </p:nvSpPr>
        <p:spPr>
          <a:xfrm>
            <a:off x="444925" y="955875"/>
            <a:ext cx="8347500" cy="1542076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g592a0c91a4547f2_0"/>
          <p:cNvSpPr txBox="1"/>
          <p:nvPr/>
        </p:nvSpPr>
        <p:spPr>
          <a:xfrm>
            <a:off x="439534" y="953195"/>
            <a:ext cx="8347500" cy="157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理想汽車 5nm 自動駕駛ASIC ADAS 專案已經下達正式訂單，預計導入客戶全系列車款，且已經開始投片至主要晶圓代工廠，預計在 2026 年放量。以單位用量來看，一台車內含兩顆 ADAS 晶片。根據研調機構預估，2025 年目標為 64 萬台，上看70萬台，推估 ADAS 晶片有望出貨 130-150 萬顆，而以 5nm 製程節點生產下，推估 2026 年的年營收約為 3 億至 4 億美元，約佔世芯總營收的 10% 以上，成為世芯 2026 年的第二大營收貢獻來源。也因為這是一個 spec-in 專案，預計將享有超過 25% 的健康毛利率。除此之外，下一代晶片研發已經開始進行以實現更高速度的介面晶片擴展性，整體貢獻程度將延續至 2028 年。</a:t>
            </a:r>
            <a:endParaRPr dirty="0">
              <a:solidFill>
                <a:srgbClr val="303030"/>
              </a:solidFill>
              <a:highlight>
                <a:srgbClr val="FFFFFF"/>
              </a:highlight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55" name="Google Shape;955;g592a0c91a4547f2_0"/>
          <p:cNvSpPr txBox="1"/>
          <p:nvPr/>
        </p:nvSpPr>
        <p:spPr>
          <a:xfrm>
            <a:off x="705866" y="517707"/>
            <a:ext cx="7946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dirty="0">
                <a:solidFill>
                  <a:srgbClr val="303030"/>
                </a:solidFill>
                <a:highlight>
                  <a:srgbClr val="FF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理想汽車 ADAS 專案預計 2026 放量，預計成為第二大營收貢獻來源</a:t>
            </a:r>
            <a:endParaRPr sz="1800" b="1" dirty="0">
              <a:solidFill>
                <a:srgbClr val="303030"/>
              </a:solidFill>
              <a:highlight>
                <a:srgbClr val="FFFFFF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56" name="Google Shape;956;g592a0c91a4547f2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168" y="2876777"/>
            <a:ext cx="3975351" cy="1892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g592a0c91a4547f2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5343" y="2869190"/>
            <a:ext cx="4151690" cy="1892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8" name="Google Shape;958;g592a0c91a4547f2_0"/>
          <p:cNvGrpSpPr/>
          <p:nvPr/>
        </p:nvGrpSpPr>
        <p:grpSpPr>
          <a:xfrm>
            <a:off x="-76" y="7275"/>
            <a:ext cx="9144164" cy="330000"/>
            <a:chOff x="-76" y="7275"/>
            <a:chExt cx="9144164" cy="330000"/>
          </a:xfrm>
        </p:grpSpPr>
        <p:sp>
          <p:nvSpPr>
            <p:cNvPr id="959" name="Google Shape;959;g592a0c91a4547f2_0"/>
            <p:cNvSpPr/>
            <p:nvPr/>
          </p:nvSpPr>
          <p:spPr>
            <a:xfrm>
              <a:off x="-77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EBAA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EBAA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960" name="Google Shape;960;g592a0c91a4547f2_0"/>
            <p:cNvSpPr/>
            <p:nvPr/>
          </p:nvSpPr>
          <p:spPr>
            <a:xfrm>
              <a:off x="3439437" y="7275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961" name="Google Shape;961;g592a0c91a4547f2_0"/>
            <p:cNvSpPr/>
            <p:nvPr/>
          </p:nvSpPr>
          <p:spPr>
            <a:xfrm>
              <a:off x="4585924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962" name="Google Shape;962;g592a0c91a4547f2_0"/>
            <p:cNvSpPr/>
            <p:nvPr/>
          </p:nvSpPr>
          <p:spPr>
            <a:xfrm>
              <a:off x="5732412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963" name="Google Shape;963;g592a0c91a4547f2_0"/>
            <p:cNvSpPr/>
            <p:nvPr/>
          </p:nvSpPr>
          <p:spPr>
            <a:xfrm>
              <a:off x="6878899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964" name="Google Shape;964;g592a0c91a4547f2_0"/>
            <p:cNvSpPr/>
            <p:nvPr/>
          </p:nvSpPr>
          <p:spPr>
            <a:xfrm>
              <a:off x="8025388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965" name="Google Shape;965;g592a0c91a4547f2_0"/>
            <p:cNvSpPr/>
            <p:nvPr/>
          </p:nvSpPr>
          <p:spPr>
            <a:xfrm>
              <a:off x="2292933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966" name="Google Shape;966;g592a0c91a4547f2_0"/>
            <p:cNvSpPr/>
            <p:nvPr/>
          </p:nvSpPr>
          <p:spPr>
            <a:xfrm>
              <a:off x="1146445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g96fc3eb1ea2e541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3" name="Google Shape;973;g96fc3eb1ea2e541_1"/>
          <p:cNvGrpSpPr/>
          <p:nvPr/>
        </p:nvGrpSpPr>
        <p:grpSpPr>
          <a:xfrm>
            <a:off x="272775" y="376489"/>
            <a:ext cx="484808" cy="484808"/>
            <a:chOff x="1628775" y="1381125"/>
            <a:chExt cx="1352700" cy="1352700"/>
          </a:xfrm>
        </p:grpSpPr>
        <p:sp>
          <p:nvSpPr>
            <p:cNvPr id="974" name="Google Shape;974;g96fc3eb1ea2e541_1"/>
            <p:cNvSpPr/>
            <p:nvPr/>
          </p:nvSpPr>
          <p:spPr>
            <a:xfrm>
              <a:off x="1628775" y="1381125"/>
              <a:ext cx="1352700" cy="1352700"/>
            </a:xfrm>
            <a:prstGeom prst="ellipse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75" name="Google Shape;975;g96fc3eb1ea2e541_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60962" y="1929413"/>
              <a:ext cx="1134638" cy="30944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77" name="Google Shape;977;g96fc3eb1ea2e541_1"/>
          <p:cNvCxnSpPr/>
          <p:nvPr/>
        </p:nvCxnSpPr>
        <p:spPr>
          <a:xfrm>
            <a:off x="356693" y="4834711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8" name="Google Shape;978;g96fc3eb1ea2e541_1"/>
          <p:cNvSpPr txBox="1"/>
          <p:nvPr/>
        </p:nvSpPr>
        <p:spPr>
          <a:xfrm>
            <a:off x="272775" y="4884250"/>
            <a:ext cx="44064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資料來源：統一投顧</a:t>
            </a:r>
            <a:endParaRPr sz="1100" b="1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79" name="Google Shape;979;g96fc3eb1ea2e541_1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/>
              <a:t>21</a:t>
            </a:r>
            <a:endParaRPr/>
          </a:p>
        </p:txBody>
      </p:sp>
      <p:sp>
        <p:nvSpPr>
          <p:cNvPr id="980" name="Google Shape;980;g96fc3eb1ea2e541_1"/>
          <p:cNvSpPr/>
          <p:nvPr/>
        </p:nvSpPr>
        <p:spPr>
          <a:xfrm>
            <a:off x="429075" y="2611613"/>
            <a:ext cx="4093800" cy="330000"/>
          </a:xfrm>
          <a:prstGeom prst="rect">
            <a:avLst/>
          </a:prstGeom>
          <a:solidFill>
            <a:srgbClr val="F1A63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TW" b="1">
                <a:latin typeface="Microsoft JhengHei"/>
                <a:ea typeface="Microsoft JhengHei"/>
                <a:cs typeface="Microsoft JhengHei"/>
                <a:sym typeface="Microsoft JhengHei"/>
              </a:rPr>
              <a:t>商業模式比較</a:t>
            </a:r>
            <a:endParaRPr b="1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81" name="Google Shape;981;g96fc3eb1ea2e541_1"/>
          <p:cNvSpPr/>
          <p:nvPr/>
        </p:nvSpPr>
        <p:spPr>
          <a:xfrm>
            <a:off x="4706507" y="2616763"/>
            <a:ext cx="4025400" cy="330000"/>
          </a:xfrm>
          <a:prstGeom prst="rect">
            <a:avLst/>
          </a:prstGeom>
          <a:solidFill>
            <a:srgbClr val="F1A5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世芯與Astera Lab、Ayer Lab戰略合作優勢</a:t>
            </a:r>
            <a:endParaRPr b="1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82" name="Google Shape;982;g96fc3eb1ea2e541_1"/>
          <p:cNvSpPr/>
          <p:nvPr/>
        </p:nvSpPr>
        <p:spPr>
          <a:xfrm>
            <a:off x="431037" y="882490"/>
            <a:ext cx="8254200" cy="1691147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g96fc3eb1ea2e541_1"/>
          <p:cNvSpPr txBox="1"/>
          <p:nvPr/>
        </p:nvSpPr>
        <p:spPr>
          <a:xfrm>
            <a:off x="398250" y="840071"/>
            <a:ext cx="8347500" cy="1792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COT 模式+策略聯盟模式將會是 CSP 客戶最具成本效應的方式。在客戶成本方面，COT 模式對於客戶而言更有辦法管控成本結構。在COT 模式下客戶對案件掌握度雖高，但根據成本效益來說，自行設計跟投片等對於 CSP 廠商來說不划算，因為要承擔更多設計及投片風險，且亞洲公司具有人力成本較低的優勢，因此提供世芯的成長動能。而策略聯盟的優勢為，各個合作夥伴都有其強項，例如：ASTERA LAB(ALAB.US)強項在於傳輸、AYAR LAB 在於 CPO，與之共同開發晶片，將可以提供客戶各合作夥伴最強的區塊。雖然目前世芯仍未確定獲得其他家 CSP 客戶的案件，但持續有 CSP 客戶在接觸。未來在 CSP 主導的 ASIC 這個方向，COT 模式將會有更多彈性及更低的成本，將有望爭取更多 CSP 客戶的訂單。</a:t>
            </a:r>
            <a:endParaRPr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84" name="Google Shape;984;g96fc3eb1ea2e541_1"/>
          <p:cNvSpPr txBox="1"/>
          <p:nvPr/>
        </p:nvSpPr>
        <p:spPr>
          <a:xfrm>
            <a:off x="757583" y="469349"/>
            <a:ext cx="7946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dirty="0">
                <a:solidFill>
                  <a:srgbClr val="303030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COT 模式與戰略合作並行，實現成本優勢與技術飛躍</a:t>
            </a:r>
            <a:endParaRPr sz="1800" b="1" dirty="0">
              <a:solidFill>
                <a:srgbClr val="303030"/>
              </a:solidFill>
              <a:highlight>
                <a:srgbClr val="FFFFFF"/>
              </a:highlight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50" b="1" dirty="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  <p:grpSp>
        <p:nvGrpSpPr>
          <p:cNvPr id="985" name="Google Shape;985;g96fc3eb1ea2e541_1"/>
          <p:cNvGrpSpPr/>
          <p:nvPr/>
        </p:nvGrpSpPr>
        <p:grpSpPr>
          <a:xfrm>
            <a:off x="4614515" y="2954601"/>
            <a:ext cx="4148517" cy="883477"/>
            <a:chOff x="296908" y="2454471"/>
            <a:chExt cx="4547317" cy="1442780"/>
          </a:xfrm>
        </p:grpSpPr>
        <p:sp>
          <p:nvSpPr>
            <p:cNvPr id="986" name="Google Shape;986;g96fc3eb1ea2e541_1"/>
            <p:cNvSpPr/>
            <p:nvPr/>
          </p:nvSpPr>
          <p:spPr>
            <a:xfrm>
              <a:off x="363126" y="2454471"/>
              <a:ext cx="4481099" cy="1442779"/>
            </a:xfrm>
            <a:prstGeom prst="roundRect">
              <a:avLst>
                <a:gd name="adj" fmla="val 16667"/>
              </a:avLst>
            </a:prstGeom>
            <a:solidFill>
              <a:srgbClr val="FFF6ED"/>
            </a:solidFill>
            <a:ln w="231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400" tIns="41700" rIns="83400" bIns="41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7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g96fc3eb1ea2e541_1"/>
            <p:cNvSpPr/>
            <p:nvPr/>
          </p:nvSpPr>
          <p:spPr>
            <a:xfrm>
              <a:off x="512056" y="2463156"/>
              <a:ext cx="1410000" cy="304800"/>
            </a:xfrm>
            <a:prstGeom prst="rect">
              <a:avLst/>
            </a:prstGeom>
            <a:solidFill>
              <a:srgbClr val="F1A63B"/>
            </a:solidFill>
            <a:ln w="23175" cap="flat" cmpd="sng">
              <a:solidFill>
                <a:srgbClr val="FFF6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400" tIns="41700" rIns="83400" bIns="41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77" b="1" dirty="0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Astera Lab</a:t>
              </a:r>
              <a:endParaRPr sz="1277" b="1" dirty="0"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988" name="Google Shape;988;g96fc3eb1ea2e541_1"/>
            <p:cNvSpPr txBox="1"/>
            <p:nvPr/>
          </p:nvSpPr>
          <p:spPr>
            <a:xfrm>
              <a:off x="296908" y="2719298"/>
              <a:ext cx="4513200" cy="11779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400" tIns="41700" rIns="83400" bIns="41700" anchor="t" anchorCtr="0">
              <a:spAutoFit/>
            </a:bodyPr>
            <a:lstStyle/>
            <a:p>
              <a:pPr marL="316284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004"/>
                <a:buFont typeface="Wingdings" panose="05000000000000000000" pitchFamily="2" charset="2"/>
                <a:buChar char="l"/>
              </a:pPr>
              <a:r>
                <a:rPr lang="zh-TW" sz="900" dirty="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連接 IP 整合與互通性驗證，縮短設計週期和驗證時間。</a:t>
              </a:r>
              <a:endParaRPr lang="en-US" altLang="zh-TW" sz="9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316284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004"/>
                <a:buFont typeface="Wingdings" panose="05000000000000000000" pitchFamily="2" charset="2"/>
                <a:buChar char="l"/>
              </a:pPr>
              <a:r>
                <a:rPr lang="zh-TW" sz="900" dirty="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皆為Amazon 轉投資企業與 NVLink 的首批授權對象，雙方合作的方案更容易被  AWS 等主要的雲端客戶採用。</a:t>
              </a:r>
              <a:endParaRPr lang="en-US" altLang="zh-TW" sz="9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316284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004"/>
                <a:buFont typeface="Wingdings" panose="05000000000000000000" pitchFamily="2" charset="2"/>
                <a:buChar char="l"/>
              </a:pPr>
              <a:r>
                <a:rPr lang="zh-TW" sz="900" dirty="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確保高性能 AI 運算晶片與其他組件實現可靠高速電性連接。</a:t>
              </a:r>
              <a:endParaRPr sz="900" dirty="0"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grpSp>
        <p:nvGrpSpPr>
          <p:cNvPr id="989" name="Google Shape;989;g96fc3eb1ea2e541_1"/>
          <p:cNvGrpSpPr/>
          <p:nvPr/>
        </p:nvGrpSpPr>
        <p:grpSpPr>
          <a:xfrm>
            <a:off x="4667958" y="3840282"/>
            <a:ext cx="4088107" cy="956846"/>
            <a:chOff x="363125" y="2377750"/>
            <a:chExt cx="4481100" cy="1519500"/>
          </a:xfrm>
          <a:solidFill>
            <a:srgbClr val="FFF6ED"/>
          </a:solidFill>
        </p:grpSpPr>
        <p:sp>
          <p:nvSpPr>
            <p:cNvPr id="990" name="Google Shape;990;g96fc3eb1ea2e541_1"/>
            <p:cNvSpPr/>
            <p:nvPr/>
          </p:nvSpPr>
          <p:spPr>
            <a:xfrm>
              <a:off x="363125" y="2377750"/>
              <a:ext cx="4481100" cy="1519500"/>
            </a:xfrm>
            <a:prstGeom prst="roundRect">
              <a:avLst>
                <a:gd name="adj" fmla="val 16667"/>
              </a:avLst>
            </a:prstGeom>
            <a:grpFill/>
            <a:ln w="231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400" tIns="41700" rIns="83400" bIns="41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7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g96fc3eb1ea2e541_1"/>
            <p:cNvSpPr/>
            <p:nvPr/>
          </p:nvSpPr>
          <p:spPr>
            <a:xfrm>
              <a:off x="512056" y="2463156"/>
              <a:ext cx="1410000" cy="304800"/>
            </a:xfrm>
            <a:prstGeom prst="rect">
              <a:avLst/>
            </a:prstGeom>
            <a:solidFill>
              <a:srgbClr val="F1A63B"/>
            </a:solidFill>
            <a:ln w="23175" cap="flat" cmpd="sng">
              <a:solidFill>
                <a:srgbClr val="FFF6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400" tIns="41700" rIns="83400" bIns="41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77" b="1" dirty="0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Ayer Lab</a:t>
              </a:r>
              <a:endParaRPr sz="1277" b="1" dirty="0"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graphicFrame>
        <p:nvGraphicFramePr>
          <p:cNvPr id="993" name="Google Shape;993;g96fc3eb1ea2e541_1"/>
          <p:cNvGraphicFramePr/>
          <p:nvPr>
            <p:extLst>
              <p:ext uri="{D42A27DB-BD31-4B8C-83A1-F6EECF244321}">
                <p14:modId xmlns:p14="http://schemas.microsoft.com/office/powerpoint/2010/main" val="1337163024"/>
              </p:ext>
            </p:extLst>
          </p:nvPr>
        </p:nvGraphicFramePr>
        <p:xfrm>
          <a:off x="436668" y="2954603"/>
          <a:ext cx="4093775" cy="1828620"/>
        </p:xfrm>
        <a:graphic>
          <a:graphicData uri="http://schemas.openxmlformats.org/drawingml/2006/table">
            <a:tbl>
              <a:tblPr>
                <a:noFill/>
                <a:tableStyleId>{3DEE529F-65EA-4B2C-8520-2936BB77051D}</a:tableStyleId>
              </a:tblPr>
              <a:tblGrid>
                <a:gridCol w="91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5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項目</a:t>
                      </a:r>
                      <a:endParaRPr sz="80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5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NRE</a:t>
                      </a:r>
                      <a:endParaRPr sz="8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5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Turnkey</a:t>
                      </a:r>
                      <a:endParaRPr sz="8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5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COT</a:t>
                      </a:r>
                      <a:endParaRPr sz="8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5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5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b="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定義</a:t>
                      </a:r>
                      <a:endParaRPr sz="8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一次性費用</a:t>
                      </a:r>
                      <a:endParaRPr sz="80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統包服務</a:t>
                      </a:r>
                      <a:endParaRPr sz="80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一次性設計</a:t>
                      </a:r>
                      <a:endParaRPr sz="80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5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b="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客製化程度</a:t>
                      </a:r>
                      <a:endParaRPr sz="8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</a:t>
                      </a:r>
                      <a:endParaRPr sz="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低</a:t>
                      </a:r>
                      <a:endParaRPr sz="80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</a:t>
                      </a:r>
                      <a:endParaRPr sz="80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5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b="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收入模式</a:t>
                      </a:r>
                      <a:endParaRPr sz="8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一次性</a:t>
                      </a:r>
                      <a:endParaRPr sz="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隨出貨量增加</a:t>
                      </a:r>
                      <a:endParaRPr sz="80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一次性</a:t>
                      </a:r>
                      <a:endParaRPr sz="80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5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b="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量產責任</a:t>
                      </a:r>
                      <a:endParaRPr sz="8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客戶</a:t>
                      </a:r>
                      <a:endParaRPr sz="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IC設計服務公司</a:t>
                      </a:r>
                      <a:endParaRPr sz="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客戶</a:t>
                      </a:r>
                      <a:endParaRPr sz="80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5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b="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毛利率</a:t>
                      </a:r>
                      <a:endParaRPr sz="800" b="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</a:t>
                      </a:r>
                      <a:endParaRPr sz="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中</a:t>
                      </a:r>
                      <a:endParaRPr sz="80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800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</a:t>
                      </a:r>
                      <a:endParaRPr sz="800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94" name="Google Shape;994;g96fc3eb1ea2e541_1"/>
          <p:cNvSpPr/>
          <p:nvPr/>
        </p:nvSpPr>
        <p:spPr>
          <a:xfrm>
            <a:off x="-77" y="7275"/>
            <a:ext cx="1118700" cy="330000"/>
          </a:xfrm>
          <a:prstGeom prst="rect">
            <a:avLst/>
          </a:prstGeom>
          <a:solidFill>
            <a:srgbClr val="F5E5D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CEBAA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1100" b="0" i="0" u="none" strike="noStrike" cap="none">
              <a:solidFill>
                <a:srgbClr val="CEBAAA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95" name="Google Shape;995;g96fc3eb1ea2e541_1"/>
          <p:cNvSpPr/>
          <p:nvPr/>
        </p:nvSpPr>
        <p:spPr>
          <a:xfrm>
            <a:off x="3439437" y="7275"/>
            <a:ext cx="1118700" cy="330000"/>
          </a:xfrm>
          <a:prstGeom prst="rect">
            <a:avLst/>
          </a:prstGeom>
          <a:solidFill>
            <a:srgbClr val="7A645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成長動能</a:t>
            </a:r>
            <a:endParaRPr sz="1100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96" name="Google Shape;996;g96fc3eb1ea2e541_1"/>
          <p:cNvSpPr/>
          <p:nvPr/>
        </p:nvSpPr>
        <p:spPr>
          <a:xfrm>
            <a:off x="4585924" y="7275"/>
            <a:ext cx="1118700" cy="330000"/>
          </a:xfrm>
          <a:prstGeom prst="rect">
            <a:avLst/>
          </a:prstGeom>
          <a:solidFill>
            <a:srgbClr val="F5E5D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潛在風險</a:t>
            </a:r>
            <a:endParaRPr sz="1100" b="0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97" name="Google Shape;997;g96fc3eb1ea2e541_1"/>
          <p:cNvSpPr/>
          <p:nvPr/>
        </p:nvSpPr>
        <p:spPr>
          <a:xfrm>
            <a:off x="5732412" y="7275"/>
            <a:ext cx="1118700" cy="330000"/>
          </a:xfrm>
          <a:prstGeom prst="rect">
            <a:avLst/>
          </a:prstGeom>
          <a:solidFill>
            <a:srgbClr val="F5E5D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財務模型</a:t>
            </a:r>
            <a:endParaRPr sz="1100" b="0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98" name="Google Shape;998;g96fc3eb1ea2e541_1"/>
          <p:cNvSpPr/>
          <p:nvPr/>
        </p:nvSpPr>
        <p:spPr>
          <a:xfrm>
            <a:off x="6878899" y="7275"/>
            <a:ext cx="1118700" cy="330000"/>
          </a:xfrm>
          <a:prstGeom prst="rect">
            <a:avLst/>
          </a:prstGeom>
          <a:solidFill>
            <a:srgbClr val="F5E5D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1100" b="0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99" name="Google Shape;999;g96fc3eb1ea2e541_1"/>
          <p:cNvSpPr/>
          <p:nvPr/>
        </p:nvSpPr>
        <p:spPr>
          <a:xfrm>
            <a:off x="8025388" y="7275"/>
            <a:ext cx="1118700" cy="330000"/>
          </a:xfrm>
          <a:prstGeom prst="rect">
            <a:avLst/>
          </a:prstGeom>
          <a:solidFill>
            <a:srgbClr val="F5E5D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附錄</a:t>
            </a:r>
            <a:endParaRPr sz="1100" b="0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00" name="Google Shape;1000;g96fc3eb1ea2e541_1"/>
          <p:cNvSpPr/>
          <p:nvPr/>
        </p:nvSpPr>
        <p:spPr>
          <a:xfrm>
            <a:off x="2292933" y="7275"/>
            <a:ext cx="1118700" cy="330000"/>
          </a:xfrm>
          <a:prstGeom prst="rect">
            <a:avLst/>
          </a:prstGeom>
          <a:solidFill>
            <a:srgbClr val="F5E5D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產業概況</a:t>
            </a:r>
            <a:endParaRPr sz="1100" b="0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01" name="Google Shape;1001;g96fc3eb1ea2e541_1"/>
          <p:cNvSpPr/>
          <p:nvPr/>
        </p:nvSpPr>
        <p:spPr>
          <a:xfrm>
            <a:off x="1146445" y="7275"/>
            <a:ext cx="1118700" cy="330000"/>
          </a:xfrm>
          <a:prstGeom prst="rect">
            <a:avLst/>
          </a:prstGeom>
          <a:solidFill>
            <a:srgbClr val="F5E5D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個股介紹</a:t>
            </a:r>
            <a:endParaRPr sz="1100" b="0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0C1636F-FDA9-EEC6-9AD7-C9416D851C86}"/>
              </a:ext>
            </a:extLst>
          </p:cNvPr>
          <p:cNvSpPr txBox="1"/>
          <p:nvPr/>
        </p:nvSpPr>
        <p:spPr>
          <a:xfrm>
            <a:off x="4613559" y="4053251"/>
            <a:ext cx="4117392" cy="716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6512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l"/>
            </a:pPr>
            <a:r>
              <a:rPr lang="zh-TW" altLang="en-US" sz="9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將光學 </a:t>
            </a:r>
            <a:r>
              <a:rPr lang="en-US" altLang="zh-TW" sz="9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I/O </a:t>
            </a:r>
            <a:r>
              <a:rPr lang="zh-TW" altLang="en-US" sz="9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直接整合到封裝內，大幅提升頻寬密度、降低功耗和縮短延遲，並基於台積電 </a:t>
            </a:r>
            <a:r>
              <a:rPr lang="en-US" altLang="zh-TW" sz="9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COUPE </a:t>
            </a:r>
            <a:r>
              <a:rPr lang="zh-TW" altLang="en-US" sz="9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平台，加速 </a:t>
            </a:r>
            <a:r>
              <a:rPr lang="en-US" altLang="zh-TW" sz="9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CPO </a:t>
            </a:r>
            <a:r>
              <a:rPr lang="zh-TW" altLang="en-US" sz="9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技術普及。</a:t>
            </a:r>
          </a:p>
          <a:p>
            <a:pPr marL="316512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l"/>
            </a:pPr>
            <a:r>
              <a:rPr lang="zh-TW" altLang="en-US" sz="9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光學互連被視為 </a:t>
            </a:r>
            <a:r>
              <a:rPr lang="en-US" altLang="zh-TW" sz="9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2nm </a:t>
            </a:r>
            <a:r>
              <a:rPr lang="zh-TW" altLang="en-US" sz="9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以下晶片和下一代  </a:t>
            </a:r>
            <a:r>
              <a:rPr lang="en-US" altLang="zh-TW" sz="9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 </a:t>
            </a:r>
            <a:r>
              <a:rPr lang="zh-TW" altLang="en-US" sz="9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運算架構的關鍵技術，此合作使世芯在未來  </a:t>
            </a:r>
            <a:r>
              <a:rPr lang="en-US" altLang="zh-TW" sz="9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ASIC </a:t>
            </a:r>
            <a:r>
              <a:rPr lang="zh-TW" altLang="en-US" sz="900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設計中保持領先地位。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7" name="Google Shape;1007;g3a84acc338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8" name="Google Shape;1008;g3a84acc3383_0_0"/>
          <p:cNvGrpSpPr/>
          <p:nvPr/>
        </p:nvGrpSpPr>
        <p:grpSpPr>
          <a:xfrm>
            <a:off x="242301" y="434035"/>
            <a:ext cx="484808" cy="484808"/>
            <a:chOff x="1628775" y="1381125"/>
            <a:chExt cx="1352700" cy="1352700"/>
          </a:xfrm>
        </p:grpSpPr>
        <p:sp>
          <p:nvSpPr>
            <p:cNvPr id="1009" name="Google Shape;1009;g3a84acc3383_0_0"/>
            <p:cNvSpPr/>
            <p:nvPr/>
          </p:nvSpPr>
          <p:spPr>
            <a:xfrm>
              <a:off x="1628775" y="1381125"/>
              <a:ext cx="1352700" cy="1352700"/>
            </a:xfrm>
            <a:prstGeom prst="ellipse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10" name="Google Shape;1010;g3a84acc3383_0_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60962" y="1929413"/>
              <a:ext cx="1134638" cy="30944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011" name="Google Shape;1011;g3a84acc3383_0_0"/>
          <p:cNvCxnSpPr/>
          <p:nvPr/>
        </p:nvCxnSpPr>
        <p:spPr>
          <a:xfrm>
            <a:off x="356693" y="4834711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2" name="Google Shape;1012;g3a84acc3383_0_0"/>
          <p:cNvSpPr txBox="1"/>
          <p:nvPr/>
        </p:nvSpPr>
        <p:spPr>
          <a:xfrm>
            <a:off x="356706" y="4867288"/>
            <a:ext cx="72315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資料來源：Technews ,鉅亨網</a:t>
            </a:r>
            <a:endParaRPr sz="1100"/>
          </a:p>
        </p:txBody>
      </p:sp>
      <p:sp>
        <p:nvSpPr>
          <p:cNvPr id="1013" name="Google Shape;1013;g3a84acc3383_0_0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/>
              <a:t>22</a:t>
            </a:r>
            <a:endParaRPr/>
          </a:p>
        </p:txBody>
      </p:sp>
      <p:sp>
        <p:nvSpPr>
          <p:cNvPr id="1014" name="Google Shape;1014;g3a84acc3383_0_0"/>
          <p:cNvSpPr txBox="1"/>
          <p:nvPr/>
        </p:nvSpPr>
        <p:spPr>
          <a:xfrm>
            <a:off x="444375" y="974850"/>
            <a:ext cx="8115350" cy="1458900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Astera Labs 與世芯-KY的合作，將高速互連技術與世芯在 ASIC 設計的能力深度整合，使世芯能提供從晶片設計、I/O、SerDes，到 CXL、NVLink、PCIe 等機櫃級連接方案的一站式平台，協助雲端業者更快導入 AI 架構並降低整合複雜度。此合作也強化世芯在 3nm、2nm 先進製程的技術佈局，提升承接大型 AI ASIC 專案的能力。隨著 NRE 動能升溫、3nm 專案進入量產、2nm 專案啟動，以及機櫃級 AI 架構需求持續上升，世芯未來在雲端大廠供應鏈中的角色將更加重要，整體成長動能也更具可見度。</a:t>
            </a:r>
            <a:endParaRPr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15" name="Google Shape;1015;g3a84acc3383_0_0"/>
          <p:cNvSpPr txBox="1"/>
          <p:nvPr/>
        </p:nvSpPr>
        <p:spPr>
          <a:xfrm>
            <a:off x="646500" y="458925"/>
            <a:ext cx="37407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世芯佈局矽光子互連技術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16" name="Google Shape;1016;g3a84acc3383_0_0"/>
          <p:cNvGraphicFramePr/>
          <p:nvPr>
            <p:extLst>
              <p:ext uri="{D42A27DB-BD31-4B8C-83A1-F6EECF244321}">
                <p14:modId xmlns:p14="http://schemas.microsoft.com/office/powerpoint/2010/main" val="1203231387"/>
              </p:ext>
            </p:extLst>
          </p:nvPr>
        </p:nvGraphicFramePr>
        <p:xfrm>
          <a:off x="444375" y="2514675"/>
          <a:ext cx="8115350" cy="2172695"/>
        </p:xfrm>
        <a:graphic>
          <a:graphicData uri="http://schemas.openxmlformats.org/drawingml/2006/table">
            <a:tbl>
              <a:tblPr>
                <a:noFill/>
                <a:tableStyleId>{1D9C0F23-8BC3-4CF7-A390-BA56772D7511}</a:tableStyleId>
              </a:tblPr>
              <a:tblGrid>
                <a:gridCol w="183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63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銅線 (Copper Wire / 傳統電性互連)</a:t>
                      </a:r>
                      <a:endParaRPr sz="11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A93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光子 (Photonics / 矽光子技術)</a:t>
                      </a:r>
                      <a:endParaRPr sz="11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A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頻寬 (Bandwidth)</a:t>
                      </a:r>
                      <a:endParaRPr sz="11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63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25–112 Gbps；傳輸速率超過 50 Gbps 時挑戰銳增</a:t>
                      </a:r>
                      <a:endParaRPr sz="11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Tbps 級效能；單纖可實現 200–400 Gb/s，可望突破 1 Tb/s</a:t>
                      </a:r>
                      <a:endParaRPr sz="11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功耗 (Power/能效)</a:t>
                      </a:r>
                      <a:endParaRPr sz="1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63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高；面臨極限；需依賴編碼及錯誤更正機制以致功耗提高</a:t>
                      </a:r>
                      <a:endParaRPr sz="11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低；單比特傳輸能耗可降至 &lt;5 pJ/bit；整體功耗可降低 80%</a:t>
                      </a:r>
                      <a:endParaRPr sz="11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延遲 (Latency)</a:t>
                      </a:r>
                      <a:endParaRPr sz="1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63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較高</a:t>
                      </a:r>
                      <a:r>
                        <a:rPr lang="zh-TW" sz="11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；是系統發揮效能的最大障礙之一</a:t>
                      </a:r>
                      <a:endParaRPr sz="1100" dirty="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較低；能突破延遲限制</a:t>
                      </a:r>
                      <a:endParaRPr sz="1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應用與距離</a:t>
                      </a:r>
                      <a:endParaRPr sz="11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63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短距離互連</a:t>
                      </a:r>
                      <a:endParaRPr sz="1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AI cluster/HPC；應用於超大規模資料中心</a:t>
                      </a:r>
                      <a:endParaRPr sz="11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17" name="Google Shape;1017;g3a84acc3383_0_0"/>
          <p:cNvGrpSpPr/>
          <p:nvPr/>
        </p:nvGrpSpPr>
        <p:grpSpPr>
          <a:xfrm>
            <a:off x="-76" y="7275"/>
            <a:ext cx="9144164" cy="330000"/>
            <a:chOff x="-76" y="7275"/>
            <a:chExt cx="9144164" cy="330000"/>
          </a:xfrm>
        </p:grpSpPr>
        <p:sp>
          <p:nvSpPr>
            <p:cNvPr id="1018" name="Google Shape;1018;g3a84acc3383_0_0"/>
            <p:cNvSpPr/>
            <p:nvPr/>
          </p:nvSpPr>
          <p:spPr>
            <a:xfrm>
              <a:off x="-77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EBAA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EBAA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019" name="Google Shape;1019;g3a84acc3383_0_0"/>
            <p:cNvSpPr/>
            <p:nvPr/>
          </p:nvSpPr>
          <p:spPr>
            <a:xfrm>
              <a:off x="3439437" y="7275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020" name="Google Shape;1020;g3a84acc3383_0_0"/>
            <p:cNvSpPr/>
            <p:nvPr/>
          </p:nvSpPr>
          <p:spPr>
            <a:xfrm>
              <a:off x="4585924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021" name="Google Shape;1021;g3a84acc3383_0_0"/>
            <p:cNvSpPr/>
            <p:nvPr/>
          </p:nvSpPr>
          <p:spPr>
            <a:xfrm>
              <a:off x="5732412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022" name="Google Shape;1022;g3a84acc3383_0_0"/>
            <p:cNvSpPr/>
            <p:nvPr/>
          </p:nvSpPr>
          <p:spPr>
            <a:xfrm>
              <a:off x="6878899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023" name="Google Shape;1023;g3a84acc3383_0_0"/>
            <p:cNvSpPr/>
            <p:nvPr/>
          </p:nvSpPr>
          <p:spPr>
            <a:xfrm>
              <a:off x="8025388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024" name="Google Shape;1024;g3a84acc3383_0_0"/>
            <p:cNvSpPr/>
            <p:nvPr/>
          </p:nvSpPr>
          <p:spPr>
            <a:xfrm>
              <a:off x="2292933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025" name="Google Shape;1025;g3a84acc3383_0_0"/>
            <p:cNvSpPr/>
            <p:nvPr/>
          </p:nvSpPr>
          <p:spPr>
            <a:xfrm>
              <a:off x="1146445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a847d0c546_1_561"/>
          <p:cNvSpPr/>
          <p:nvPr/>
        </p:nvSpPr>
        <p:spPr>
          <a:xfrm>
            <a:off x="6265150" y="324000"/>
            <a:ext cx="303900" cy="4417500"/>
          </a:xfrm>
          <a:prstGeom prst="roundRect">
            <a:avLst>
              <a:gd name="adj" fmla="val 50000"/>
            </a:avLst>
          </a:prstGeom>
          <a:solidFill>
            <a:srgbClr val="F5E5D4"/>
          </a:solidFill>
          <a:ln>
            <a:noFill/>
          </a:ln>
          <a:effectLst>
            <a:outerShdw blurRad="241300" dist="38100" sx="102000" sy="1020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g3a847d0c546_1_561"/>
          <p:cNvSpPr/>
          <p:nvPr/>
        </p:nvSpPr>
        <p:spPr>
          <a:xfrm>
            <a:off x="58" y="0"/>
            <a:ext cx="5790300" cy="5143500"/>
          </a:xfrm>
          <a:prstGeom prst="rect">
            <a:avLst/>
          </a:prstGeom>
          <a:solidFill>
            <a:srgbClr val="F1A63B"/>
          </a:solidFill>
          <a:ln>
            <a:noFill/>
          </a:ln>
          <a:effectLst>
            <a:outerShdw blurRad="469900" dist="38100" algn="l" rotWithShape="0">
              <a:srgbClr val="000000">
                <a:alpha val="3804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056" name="Google Shape;1056;g3a847d0c546_1_5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g3a847d0c546_1_561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/>
              <a:t>23</a:t>
            </a:r>
            <a:endParaRPr/>
          </a:p>
        </p:txBody>
      </p:sp>
      <p:sp>
        <p:nvSpPr>
          <p:cNvPr id="1058" name="Google Shape;1058;g3a847d0c546_1_561"/>
          <p:cNvSpPr txBox="1"/>
          <p:nvPr/>
        </p:nvSpPr>
        <p:spPr>
          <a:xfrm>
            <a:off x="6862496" y="703162"/>
            <a:ext cx="354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g3a847d0c546_1_561"/>
          <p:cNvSpPr/>
          <p:nvPr/>
        </p:nvSpPr>
        <p:spPr>
          <a:xfrm>
            <a:off x="6265138" y="2260050"/>
            <a:ext cx="303900" cy="1234800"/>
          </a:xfrm>
          <a:prstGeom prst="roundRect">
            <a:avLst>
              <a:gd name="adj" fmla="val 50000"/>
            </a:avLst>
          </a:prstGeom>
          <a:solidFill>
            <a:srgbClr val="7A645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g3a847d0c546_1_561"/>
          <p:cNvSpPr txBox="1"/>
          <p:nvPr/>
        </p:nvSpPr>
        <p:spPr>
          <a:xfrm>
            <a:off x="1440952" y="2260051"/>
            <a:ext cx="29085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zh-TW" sz="3600" b="1">
                <a:solidFill>
                  <a:srgbClr val="42210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潛在風險</a:t>
            </a:r>
            <a:endParaRPr sz="3600" b="0" i="0" u="none" strike="noStrike" cap="none">
              <a:solidFill>
                <a:srgbClr val="42210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g3a847d0c546_1_561"/>
          <p:cNvSpPr txBox="1"/>
          <p:nvPr/>
        </p:nvSpPr>
        <p:spPr>
          <a:xfrm>
            <a:off x="7097525" y="324000"/>
            <a:ext cx="1369500" cy="4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個股介紹產業概況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成長動能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42210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潛在風險</a:t>
            </a:r>
            <a:endParaRPr sz="2000" b="1" i="0" u="none" strike="noStrike" cap="none">
              <a:solidFill>
                <a:srgbClr val="42210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財務模型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附錄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7" name="Google Shape;1067;g3ae77be6bc5_0_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8" name="Google Shape;1068;g3ae77be6bc5_0_5"/>
          <p:cNvGrpSpPr/>
          <p:nvPr/>
        </p:nvGrpSpPr>
        <p:grpSpPr>
          <a:xfrm>
            <a:off x="242301" y="434035"/>
            <a:ext cx="484808" cy="484808"/>
            <a:chOff x="1628775" y="1381125"/>
            <a:chExt cx="1352700" cy="1352700"/>
          </a:xfrm>
        </p:grpSpPr>
        <p:sp>
          <p:nvSpPr>
            <p:cNvPr id="1069" name="Google Shape;1069;g3ae77be6bc5_0_5"/>
            <p:cNvSpPr/>
            <p:nvPr/>
          </p:nvSpPr>
          <p:spPr>
            <a:xfrm>
              <a:off x="1628775" y="1381125"/>
              <a:ext cx="1352700" cy="1352700"/>
            </a:xfrm>
            <a:prstGeom prst="ellipse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70" name="Google Shape;1070;g3ae77be6bc5_0_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60962" y="1929413"/>
              <a:ext cx="1134638" cy="3094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1" name="Google Shape;1071;g3ae77be6bc5_0_5"/>
          <p:cNvSpPr txBox="1"/>
          <p:nvPr/>
        </p:nvSpPr>
        <p:spPr>
          <a:xfrm>
            <a:off x="727101" y="503338"/>
            <a:ext cx="7946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營收高度依賴 AWS 專案  </a:t>
            </a:r>
            <a:r>
              <a:rPr lang="zh-TW" sz="1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</a:t>
            </a:r>
            <a:r>
              <a:rPr lang="zh-TW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rainium4專案面臨更大競爭</a:t>
            </a:r>
            <a:endParaRPr sz="2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072" name="Google Shape;1072;g3ae77be6bc5_0_5"/>
          <p:cNvCxnSpPr/>
          <p:nvPr/>
        </p:nvCxnSpPr>
        <p:spPr>
          <a:xfrm>
            <a:off x="356693" y="4834711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73" name="Google Shape;1073;g3ae77be6bc5_0_5"/>
          <p:cNvSpPr txBox="1"/>
          <p:nvPr/>
        </p:nvSpPr>
        <p:spPr>
          <a:xfrm>
            <a:off x="272774" y="4884250"/>
            <a:ext cx="3105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</a:t>
            </a:r>
            <a:r>
              <a:rPr lang="zh-TW" sz="1100" b="1" dirty="0">
                <a:solidFill>
                  <a:srgbClr val="252526"/>
                </a:solidFill>
                <a:highlight>
                  <a:schemeClr val="lt1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Morgan Stanley</a:t>
            </a:r>
            <a:endParaRPr sz="11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74" name="Google Shape;1074;g3ae77be6bc5_0_5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/>
              <a:t>24</a:t>
            </a:r>
            <a:endParaRPr/>
          </a:p>
        </p:txBody>
      </p:sp>
      <p:sp>
        <p:nvSpPr>
          <p:cNvPr id="1075" name="Google Shape;1075;g3ae77be6bc5_0_5"/>
          <p:cNvSpPr/>
          <p:nvPr/>
        </p:nvSpPr>
        <p:spPr>
          <a:xfrm>
            <a:off x="450250" y="2373175"/>
            <a:ext cx="8254200" cy="330000"/>
          </a:xfrm>
          <a:prstGeom prst="rect">
            <a:avLst/>
          </a:prstGeom>
          <a:solidFill>
            <a:srgbClr val="F1A5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b="1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Trainium4 設計服務潛在競爭者對照表</a:t>
            </a:r>
            <a:endParaRPr b="1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</p:txBody>
      </p:sp>
      <p:sp>
        <p:nvSpPr>
          <p:cNvPr id="1076" name="Google Shape;1076;g3ae77be6bc5_0_5"/>
          <p:cNvSpPr/>
          <p:nvPr/>
        </p:nvSpPr>
        <p:spPr>
          <a:xfrm>
            <a:off x="439700" y="918849"/>
            <a:ext cx="8254200" cy="1404783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市場對世芯在 Trainium4 專案的風險關注，主要源於 AWS 技術路線的開放化轉變；隨著採用 NVLink 等高速互連架構，高階 AI ASIC 的設計不再侷限於封閉模式，使更多具備先進製程與系統整合能力的供應商有機會切入。這意味著在未來 2 奈米世代中，AWS 可能為分散風險與成本而引入更多合作夥伴，進而稀釋世芯於 T4 專案中的市占。再加上世芯營收結構高度集中，2026 年預估有 65% 來自 AWS Trainium3、遠高於第二大客戶理想汽車的 10%，若 AWS 調整 ASIC 策略或下修需求，將使公司承受更大的營收波動壓力，凸顯其長期獲利穩定性面臨的挑戰。</a:t>
            </a:r>
            <a:endParaRPr sz="1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1077" name="Google Shape;1077;g3ae77be6bc5_0_5"/>
          <p:cNvGraphicFramePr/>
          <p:nvPr>
            <p:extLst>
              <p:ext uri="{D42A27DB-BD31-4B8C-83A1-F6EECF244321}">
                <p14:modId xmlns:p14="http://schemas.microsoft.com/office/powerpoint/2010/main" val="782473452"/>
              </p:ext>
            </p:extLst>
          </p:nvPr>
        </p:nvGraphicFramePr>
        <p:xfrm>
          <a:off x="450238" y="2703162"/>
          <a:ext cx="8243512" cy="2062243"/>
        </p:xfrm>
        <a:graphic>
          <a:graphicData uri="http://schemas.openxmlformats.org/drawingml/2006/table">
            <a:tbl>
              <a:tblPr>
                <a:noFill/>
                <a:tableStyleId>{1D9C0F23-8BC3-4CF7-A390-BA56772D7511}</a:tableStyleId>
              </a:tblPr>
              <a:tblGrid>
                <a:gridCol w="1142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3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65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1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41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公司</a:t>
                      </a:r>
                      <a:endParaRPr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角色定位</a:t>
                      </a:r>
                      <a:endParaRPr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 / ASIC 相關經驗</a:t>
                      </a:r>
                      <a:endParaRPr sz="11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切入 T4 的潛在可能</a:t>
                      </a:r>
                      <a:endParaRPr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世芯-KY </a:t>
                      </a:r>
                      <a:endParaRPr sz="11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現有核心設計服務商</a:t>
                      </a:r>
                      <a:endParaRPr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深耕 CSP 客製化 AI ASIC</a:t>
                      </a:r>
                      <a:endParaRPr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 AWS 長期合作、專案理解深、設計黏著度高</a:t>
                      </a:r>
                      <a:endParaRPr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邁威爾 </a:t>
                      </a:r>
                      <a:endParaRPr sz="11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高階 ASIC 競爭者</a:t>
                      </a:r>
                      <a:endParaRPr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具雲端 ASIC、HPC 及高速 SerDes 經驗</a:t>
                      </a:r>
                      <a:endParaRPr sz="11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ASIC 規模化能力強、2026 年業務成長預期明確</a:t>
                      </a:r>
                      <a:endParaRPr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93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高通</a:t>
                      </a:r>
                      <a:endParaRPr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潛在策略型競爭者</a:t>
                      </a:r>
                      <a:endParaRPr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高效能運算架構、客製化 SoC 經驗</a:t>
                      </a:r>
                      <a:endParaRPr sz="11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功耗效率與系統架構設計能力突出</a:t>
                      </a:r>
                      <a:endParaRPr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078" name="Google Shape;1078;g3ae77be6bc5_0_5"/>
          <p:cNvGrpSpPr/>
          <p:nvPr/>
        </p:nvGrpSpPr>
        <p:grpSpPr>
          <a:xfrm>
            <a:off x="-76" y="7275"/>
            <a:ext cx="9144164" cy="330000"/>
            <a:chOff x="-76" y="7275"/>
            <a:chExt cx="9144164" cy="330000"/>
          </a:xfrm>
        </p:grpSpPr>
        <p:sp>
          <p:nvSpPr>
            <p:cNvPr id="1079" name="Google Shape;1079;g3ae77be6bc5_0_5"/>
            <p:cNvSpPr/>
            <p:nvPr/>
          </p:nvSpPr>
          <p:spPr>
            <a:xfrm>
              <a:off x="-77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EBAA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EBAA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080" name="Google Shape;1080;g3ae77be6bc5_0_5"/>
            <p:cNvSpPr/>
            <p:nvPr/>
          </p:nvSpPr>
          <p:spPr>
            <a:xfrm>
              <a:off x="3439437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081" name="Google Shape;1081;g3ae77be6bc5_0_5"/>
            <p:cNvSpPr/>
            <p:nvPr/>
          </p:nvSpPr>
          <p:spPr>
            <a:xfrm>
              <a:off x="4585924" y="7275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082" name="Google Shape;1082;g3ae77be6bc5_0_5"/>
            <p:cNvSpPr/>
            <p:nvPr/>
          </p:nvSpPr>
          <p:spPr>
            <a:xfrm>
              <a:off x="5732412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083" name="Google Shape;1083;g3ae77be6bc5_0_5"/>
            <p:cNvSpPr/>
            <p:nvPr/>
          </p:nvSpPr>
          <p:spPr>
            <a:xfrm>
              <a:off x="6878899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084" name="Google Shape;1084;g3ae77be6bc5_0_5"/>
            <p:cNvSpPr/>
            <p:nvPr/>
          </p:nvSpPr>
          <p:spPr>
            <a:xfrm>
              <a:off x="8025388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085" name="Google Shape;1085;g3ae77be6bc5_0_5"/>
            <p:cNvSpPr/>
            <p:nvPr/>
          </p:nvSpPr>
          <p:spPr>
            <a:xfrm>
              <a:off x="2292933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086" name="Google Shape;1086;g3ae77be6bc5_0_5"/>
            <p:cNvSpPr/>
            <p:nvPr/>
          </p:nvSpPr>
          <p:spPr>
            <a:xfrm>
              <a:off x="1146445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g3ae6fd222ea_0_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g3ae6fd222ea_0_32"/>
          <p:cNvGrpSpPr/>
          <p:nvPr/>
        </p:nvGrpSpPr>
        <p:grpSpPr>
          <a:xfrm>
            <a:off x="242301" y="434035"/>
            <a:ext cx="484808" cy="484808"/>
            <a:chOff x="1628775" y="1381125"/>
            <a:chExt cx="1352700" cy="1352700"/>
          </a:xfrm>
        </p:grpSpPr>
        <p:sp>
          <p:nvSpPr>
            <p:cNvPr id="1095" name="Google Shape;1095;g3ae6fd222ea_0_32"/>
            <p:cNvSpPr/>
            <p:nvPr/>
          </p:nvSpPr>
          <p:spPr>
            <a:xfrm>
              <a:off x="1628775" y="1381125"/>
              <a:ext cx="1352700" cy="1352700"/>
            </a:xfrm>
            <a:prstGeom prst="ellipse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96" name="Google Shape;1096;g3ae6fd222ea_0_3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60962" y="1929413"/>
              <a:ext cx="1134638" cy="3094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7" name="Google Shape;1097;g3ae6fd222ea_0_32"/>
          <p:cNvSpPr txBox="1"/>
          <p:nvPr/>
        </p:nvSpPr>
        <p:spPr>
          <a:xfrm>
            <a:off x="727101" y="503338"/>
            <a:ext cx="7946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出貨受到美國對中國晶片管制影響</a:t>
            </a:r>
            <a:endParaRPr sz="2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098" name="Google Shape;1098;g3ae6fd222ea_0_32"/>
          <p:cNvCxnSpPr/>
          <p:nvPr/>
        </p:nvCxnSpPr>
        <p:spPr>
          <a:xfrm>
            <a:off x="356693" y="4834711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9" name="Google Shape;1099;g3ae6fd222ea_0_32"/>
          <p:cNvSpPr txBox="1"/>
          <p:nvPr/>
        </p:nvSpPr>
        <p:spPr>
          <a:xfrm>
            <a:off x="272774" y="4884250"/>
            <a:ext cx="3105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</a:t>
            </a:r>
            <a:r>
              <a:rPr lang="zh-TW" altLang="en-US" sz="11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自行整理</a:t>
            </a:r>
            <a:endParaRPr sz="1100" dirty="0"/>
          </a:p>
        </p:txBody>
      </p:sp>
      <p:sp>
        <p:nvSpPr>
          <p:cNvPr id="1100" name="Google Shape;1100;g3ae6fd222ea_0_32"/>
          <p:cNvSpPr txBox="1">
            <a:spLocks noGrp="1"/>
          </p:cNvSpPr>
          <p:nvPr>
            <p:ph type="sldNum" idx="12"/>
          </p:nvPr>
        </p:nvSpPr>
        <p:spPr>
          <a:xfrm>
            <a:off x="6982385" y="484959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/>
              <a:t>25</a:t>
            </a:r>
            <a:endParaRPr/>
          </a:p>
        </p:txBody>
      </p:sp>
      <p:sp>
        <p:nvSpPr>
          <p:cNvPr id="1101" name="Google Shape;1101;g3ae6fd222ea_0_32"/>
          <p:cNvSpPr/>
          <p:nvPr/>
        </p:nvSpPr>
        <p:spPr>
          <a:xfrm>
            <a:off x="439710" y="2161964"/>
            <a:ext cx="3944100" cy="330000"/>
          </a:xfrm>
          <a:prstGeom prst="rect">
            <a:avLst/>
          </a:prstGeom>
          <a:solidFill>
            <a:srgbClr val="F1A63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2025 世芯地區營收占比</a:t>
            </a:r>
            <a:endParaRPr sz="1100"/>
          </a:p>
        </p:txBody>
      </p:sp>
      <p:sp>
        <p:nvSpPr>
          <p:cNvPr id="1102" name="Google Shape;1102;g3ae6fd222ea_0_32"/>
          <p:cNvSpPr/>
          <p:nvPr/>
        </p:nvSpPr>
        <p:spPr>
          <a:xfrm>
            <a:off x="439710" y="1020595"/>
            <a:ext cx="8254200" cy="1089425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TW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世芯與理想汽車合作的 ADAS 晶片原預計於 2024 年底流片，但在出口許可階段遭美國否決，導致時程延後。世芯已調整設計並重新投片，預計於 2026 年開始量產。未來若中美貿易緊張局勢持續升溫，美國進一步強化對先進製程、EDA 工具或關鍵 IP 的出口管制，不排除再次影響中國車廠相關專案的審批進度，進而造成世芯客戶導入遞延、量產時程延後，或使部分訂單面臨不確定性。</a:t>
            </a:r>
            <a:endParaRPr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1103" name="Google Shape;1103;g3ae6fd222ea_0_32"/>
          <p:cNvGrpSpPr/>
          <p:nvPr/>
        </p:nvGrpSpPr>
        <p:grpSpPr>
          <a:xfrm>
            <a:off x="-76" y="7275"/>
            <a:ext cx="9144164" cy="330000"/>
            <a:chOff x="-76" y="7275"/>
            <a:chExt cx="9144164" cy="330000"/>
          </a:xfrm>
        </p:grpSpPr>
        <p:sp>
          <p:nvSpPr>
            <p:cNvPr id="1104" name="Google Shape;1104;g3ae6fd222ea_0_32"/>
            <p:cNvSpPr/>
            <p:nvPr/>
          </p:nvSpPr>
          <p:spPr>
            <a:xfrm>
              <a:off x="-77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EBAA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EBAA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05" name="Google Shape;1105;g3ae6fd222ea_0_32"/>
            <p:cNvSpPr/>
            <p:nvPr/>
          </p:nvSpPr>
          <p:spPr>
            <a:xfrm>
              <a:off x="3439437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06" name="Google Shape;1106;g3ae6fd222ea_0_32"/>
            <p:cNvSpPr/>
            <p:nvPr/>
          </p:nvSpPr>
          <p:spPr>
            <a:xfrm>
              <a:off x="4585924" y="7275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07" name="Google Shape;1107;g3ae6fd222ea_0_32"/>
            <p:cNvSpPr/>
            <p:nvPr/>
          </p:nvSpPr>
          <p:spPr>
            <a:xfrm>
              <a:off x="5732412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08" name="Google Shape;1108;g3ae6fd222ea_0_32"/>
            <p:cNvSpPr/>
            <p:nvPr/>
          </p:nvSpPr>
          <p:spPr>
            <a:xfrm>
              <a:off x="6878899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09" name="Google Shape;1109;g3ae6fd222ea_0_32"/>
            <p:cNvSpPr/>
            <p:nvPr/>
          </p:nvSpPr>
          <p:spPr>
            <a:xfrm>
              <a:off x="8025388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10" name="Google Shape;1110;g3ae6fd222ea_0_32"/>
            <p:cNvSpPr/>
            <p:nvPr/>
          </p:nvSpPr>
          <p:spPr>
            <a:xfrm>
              <a:off x="2292933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11" name="Google Shape;1111;g3ae6fd222ea_0_32"/>
            <p:cNvSpPr/>
            <p:nvPr/>
          </p:nvSpPr>
          <p:spPr>
            <a:xfrm>
              <a:off x="1146445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sp>
        <p:nvSpPr>
          <p:cNvPr id="1112" name="Google Shape;1112;g3ae6fd222ea_0_32"/>
          <p:cNvSpPr/>
          <p:nvPr/>
        </p:nvSpPr>
        <p:spPr>
          <a:xfrm>
            <a:off x="4648101" y="2161964"/>
            <a:ext cx="4025400" cy="330000"/>
          </a:xfrm>
          <a:prstGeom prst="rect">
            <a:avLst/>
          </a:prstGeom>
          <a:solidFill>
            <a:srgbClr val="F1A53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2026 世芯主要客戶預計貢獻營收比例</a:t>
            </a:r>
            <a:endParaRPr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113" name="Google Shape;1113;g3ae6fd222ea_0_32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710" y="2491964"/>
            <a:ext cx="3944100" cy="2273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E70F463F-EDA3-C5AE-790A-233C11251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101" y="2491964"/>
            <a:ext cx="4025400" cy="2273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3a847d0c546_1_573"/>
          <p:cNvSpPr/>
          <p:nvPr/>
        </p:nvSpPr>
        <p:spPr>
          <a:xfrm>
            <a:off x="6265150" y="324000"/>
            <a:ext cx="303900" cy="4417500"/>
          </a:xfrm>
          <a:prstGeom prst="roundRect">
            <a:avLst>
              <a:gd name="adj" fmla="val 50000"/>
            </a:avLst>
          </a:prstGeom>
          <a:solidFill>
            <a:srgbClr val="F5E5D4"/>
          </a:solidFill>
          <a:ln>
            <a:noFill/>
          </a:ln>
          <a:effectLst>
            <a:outerShdw blurRad="241300" dist="38100" sx="102000" sy="1020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g3a847d0c546_1_573"/>
          <p:cNvSpPr/>
          <p:nvPr/>
        </p:nvSpPr>
        <p:spPr>
          <a:xfrm>
            <a:off x="58" y="0"/>
            <a:ext cx="5790300" cy="5143500"/>
          </a:xfrm>
          <a:prstGeom prst="rect">
            <a:avLst/>
          </a:prstGeom>
          <a:solidFill>
            <a:srgbClr val="F1A63B"/>
          </a:solidFill>
          <a:ln>
            <a:noFill/>
          </a:ln>
          <a:effectLst>
            <a:outerShdw blurRad="469900" dist="38100" algn="l" rotWithShape="0">
              <a:srgbClr val="000000">
                <a:alpha val="3804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122" name="Google Shape;1122;g3a847d0c546_1_5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g3a847d0c546_1_573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/>
              <a:t>26</a:t>
            </a:r>
            <a:endParaRPr/>
          </a:p>
        </p:txBody>
      </p:sp>
      <p:sp>
        <p:nvSpPr>
          <p:cNvPr id="1124" name="Google Shape;1124;g3a847d0c546_1_573"/>
          <p:cNvSpPr txBox="1"/>
          <p:nvPr/>
        </p:nvSpPr>
        <p:spPr>
          <a:xfrm>
            <a:off x="6862496" y="703162"/>
            <a:ext cx="354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g3a847d0c546_1_573"/>
          <p:cNvSpPr/>
          <p:nvPr/>
        </p:nvSpPr>
        <p:spPr>
          <a:xfrm>
            <a:off x="6265150" y="2757025"/>
            <a:ext cx="303900" cy="1234800"/>
          </a:xfrm>
          <a:prstGeom prst="roundRect">
            <a:avLst>
              <a:gd name="adj" fmla="val 50000"/>
            </a:avLst>
          </a:prstGeom>
          <a:solidFill>
            <a:srgbClr val="7A645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g3a847d0c546_1_573"/>
          <p:cNvSpPr txBox="1"/>
          <p:nvPr/>
        </p:nvSpPr>
        <p:spPr>
          <a:xfrm>
            <a:off x="1440952" y="2260051"/>
            <a:ext cx="29085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zh-TW" sz="3600" b="1">
                <a:solidFill>
                  <a:srgbClr val="42210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財務模型</a:t>
            </a:r>
            <a:endParaRPr sz="3600" b="0" i="0" u="none" strike="noStrike" cap="none">
              <a:solidFill>
                <a:srgbClr val="42210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g3a847d0c546_1_573"/>
          <p:cNvSpPr txBox="1"/>
          <p:nvPr/>
        </p:nvSpPr>
        <p:spPr>
          <a:xfrm>
            <a:off x="7097525" y="324000"/>
            <a:ext cx="1369500" cy="4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個股介紹產業概況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成長動能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潛在風險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42210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財務模型</a:t>
            </a:r>
            <a:endParaRPr sz="2000" b="1" i="0" u="none" strike="noStrike" cap="none">
              <a:solidFill>
                <a:srgbClr val="42210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附錄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3" name="Google Shape;1133;g3af4e89dc62_2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4" name="Google Shape;1134;g3af4e89dc62_2_0"/>
          <p:cNvGrpSpPr/>
          <p:nvPr/>
        </p:nvGrpSpPr>
        <p:grpSpPr>
          <a:xfrm>
            <a:off x="242301" y="434035"/>
            <a:ext cx="484808" cy="484808"/>
            <a:chOff x="1628775" y="1381125"/>
            <a:chExt cx="1352700" cy="1352700"/>
          </a:xfrm>
        </p:grpSpPr>
        <p:sp>
          <p:nvSpPr>
            <p:cNvPr id="1135" name="Google Shape;1135;g3af4e89dc62_2_0"/>
            <p:cNvSpPr/>
            <p:nvPr/>
          </p:nvSpPr>
          <p:spPr>
            <a:xfrm>
              <a:off x="1628775" y="1381125"/>
              <a:ext cx="1352700" cy="1352700"/>
            </a:xfrm>
            <a:prstGeom prst="ellipse">
              <a:avLst/>
            </a:prstGeom>
            <a:solidFill>
              <a:srgbClr val="F1A63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36" name="Google Shape;1136;g3af4e89dc62_2_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60962" y="1929413"/>
              <a:ext cx="1134638" cy="3094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7" name="Google Shape;1137;g3af4e89dc62_2_0"/>
          <p:cNvSpPr txBox="1"/>
          <p:nvPr/>
        </p:nvSpPr>
        <p:spPr>
          <a:xfrm>
            <a:off x="727101" y="503338"/>
            <a:ext cx="7946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財務模型說明</a:t>
            </a:r>
            <a:endParaRPr sz="1800" dirty="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138" name="Google Shape;1138;g3af4e89dc62_2_0"/>
          <p:cNvCxnSpPr/>
          <p:nvPr/>
        </p:nvCxnSpPr>
        <p:spPr>
          <a:xfrm>
            <a:off x="356693" y="4834711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39" name="Google Shape;1139;g3af4e89dc62_2_0"/>
          <p:cNvSpPr txBox="1"/>
          <p:nvPr/>
        </p:nvSpPr>
        <p:spPr>
          <a:xfrm>
            <a:off x="272775" y="4884250"/>
            <a:ext cx="4644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資料來源：Morgan stanley , JP Morgan ,自行整理</a:t>
            </a:r>
            <a:endParaRPr sz="1100"/>
          </a:p>
        </p:txBody>
      </p:sp>
      <p:sp>
        <p:nvSpPr>
          <p:cNvPr id="1140" name="Google Shape;1140;g3af4e89dc62_2_0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/>
              <a:t>27</a:t>
            </a:r>
            <a:endParaRPr/>
          </a:p>
        </p:txBody>
      </p:sp>
      <p:graphicFrame>
        <p:nvGraphicFramePr>
          <p:cNvPr id="1141" name="Google Shape;1141;g3af4e89dc62_2_0"/>
          <p:cNvGraphicFramePr/>
          <p:nvPr>
            <p:extLst>
              <p:ext uri="{D42A27DB-BD31-4B8C-83A1-F6EECF244321}">
                <p14:modId xmlns:p14="http://schemas.microsoft.com/office/powerpoint/2010/main" val="3112275647"/>
              </p:ext>
            </p:extLst>
          </p:nvPr>
        </p:nvGraphicFramePr>
        <p:xfrm>
          <a:off x="727111" y="959150"/>
          <a:ext cx="7946400" cy="3735100"/>
        </p:xfrm>
        <a:graphic>
          <a:graphicData uri="http://schemas.openxmlformats.org/drawingml/2006/table">
            <a:tbl>
              <a:tblPr>
                <a:noFill/>
                <a:tableStyleId>{1D9C0F23-8BC3-4CF7-A390-BA56772D7511}</a:tableStyleId>
              </a:tblPr>
              <a:tblGrid>
                <a:gridCol w="163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9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營收和毛利率</a:t>
                      </a:r>
                      <a:endParaRPr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solidFill>
                      <a:srgbClr val="F8A937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AutoNum type="arabicPeriod"/>
                      </a:pPr>
                      <a:r>
                        <a:rPr lang="zh-TW" sz="11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AWS Trainium3:2026 年整體市場預估出貨約 120 萬顆，世芯可取得 55–60 萬顆，ASP 約 US$4,000–5,000。全年貢獻約 NT$717.11 億，為世芯營收成長最主要來源。</a:t>
                      </a:r>
                      <a:endParaRPr sz="11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AutoNum type="arabicPeriod"/>
                      </a:pPr>
                      <a:r>
                        <a:rPr lang="zh-TW" sz="11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Li Auto ADAS（5nm）:2026 年出貨量約 130–150 萬顆，進入量產高峰，全年營收貢獻約 NT$109.13 億。</a:t>
                      </a:r>
                      <a:endParaRPr sz="11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AutoNum type="arabicPeriod"/>
                      </a:pPr>
                      <a:r>
                        <a:rPr lang="zh-TW" sz="11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日本消費性電子客戶:成長趨緩，2026 年預估貢獻 NT$31.18億，穩定但缺乏成長的來源</a:t>
                      </a:r>
                      <a:endParaRPr sz="11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AutoNum type="arabicPeriod"/>
                      </a:pPr>
                      <a:r>
                        <a:rPr lang="zh-TW" sz="11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其他客戶（中小型 AI / ASIC 專案）:成長性有限，2026 年貢獻約 NT$82.94 億，提供基本分散度但占比不高。</a:t>
                      </a:r>
                      <a:endParaRPr sz="11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AutoNum type="arabicPeriod"/>
                      </a:pPr>
                      <a:r>
                        <a:rPr lang="zh-TW" sz="11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Intel Habana: 2026 年因訂單取消，營收貢獻為零，使整體成長更集中於 Trn3。</a:t>
                      </a:r>
                      <a:endParaRPr lang="en-US" altLang="zh-TW" sz="11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5875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None/>
                      </a:pPr>
                      <a:r>
                        <a:rPr lang="zh-TW" sz="11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Turnkey 占比提升至 85%，使毛利率由 24.8% 下滑至 19.7%，全年毛利金額仍達NT$183.28 億    </a:t>
                      </a:r>
                      <a:r>
                        <a:rPr lang="zh-TW" altLang="en-US" sz="11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</a:t>
                      </a:r>
                      <a:r>
                        <a:rPr lang="zh-TW" sz="11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世芯 2026 年營收預估大幅成長至 NT$930.36億</a:t>
                      </a:r>
                      <a:endParaRPr sz="11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營業費用與獲利</a:t>
                      </a:r>
                      <a:endParaRPr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solidFill>
                      <a:srgbClr val="F8A93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 年在大量 AI 專案進入量產帶動下，世芯整體營運規模持續放大，全年 R&amp;D 預估達 NT$26.5 億，連同 SG&amp;A 約 NT$8.98億元，使得 2026 全年營業費用合計增至 NT$52.13億元（2025 年：NT$30.97億元）</a:t>
                      </a:r>
                      <a:endParaRPr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淨利與 EPS</a:t>
                      </a:r>
                      <a:endParaRPr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>
                    <a:solidFill>
                      <a:srgbClr val="F8A93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dirty="0">
                          <a:highlight>
                            <a:srgbClr val="FFFFFF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業外損益預估維持中性至小幅負值，對整體獲利影響有限。2026 年稅後淨利預估 NT$120.01億元，淨利率 12.9%，EPS 提升至 NT$134.93。</a:t>
                      </a:r>
                      <a:endParaRPr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42" name="Google Shape;1142;g3af4e89dc62_2_0"/>
          <p:cNvGrpSpPr/>
          <p:nvPr/>
        </p:nvGrpSpPr>
        <p:grpSpPr>
          <a:xfrm>
            <a:off x="-87" y="0"/>
            <a:ext cx="9144164" cy="330000"/>
            <a:chOff x="-76" y="7275"/>
            <a:chExt cx="9144164" cy="330000"/>
          </a:xfrm>
        </p:grpSpPr>
        <p:sp>
          <p:nvSpPr>
            <p:cNvPr id="1143" name="Google Shape;1143;g3af4e89dc62_2_0"/>
            <p:cNvSpPr/>
            <p:nvPr/>
          </p:nvSpPr>
          <p:spPr>
            <a:xfrm>
              <a:off x="-77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EBAA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EBAA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44" name="Google Shape;1144;g3af4e89dc62_2_0"/>
            <p:cNvSpPr/>
            <p:nvPr/>
          </p:nvSpPr>
          <p:spPr>
            <a:xfrm>
              <a:off x="3439437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45" name="Google Shape;1145;g3af4e89dc62_2_0"/>
            <p:cNvSpPr/>
            <p:nvPr/>
          </p:nvSpPr>
          <p:spPr>
            <a:xfrm>
              <a:off x="4585924" y="7275"/>
              <a:ext cx="1118700" cy="330000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46" name="Google Shape;1146;g3af4e89dc62_2_0"/>
            <p:cNvSpPr/>
            <p:nvPr/>
          </p:nvSpPr>
          <p:spPr>
            <a:xfrm>
              <a:off x="6878899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47" name="Google Shape;1147;g3af4e89dc62_2_0"/>
            <p:cNvSpPr/>
            <p:nvPr/>
          </p:nvSpPr>
          <p:spPr>
            <a:xfrm>
              <a:off x="8025388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48" name="Google Shape;1148;g3af4e89dc62_2_0"/>
            <p:cNvSpPr/>
            <p:nvPr/>
          </p:nvSpPr>
          <p:spPr>
            <a:xfrm>
              <a:off x="2292933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49" name="Google Shape;1149;g3af4e89dc62_2_0"/>
            <p:cNvSpPr/>
            <p:nvPr/>
          </p:nvSpPr>
          <p:spPr>
            <a:xfrm>
              <a:off x="1146445" y="7275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sp>
        <p:nvSpPr>
          <p:cNvPr id="1150" name="Google Shape;1150;g3af4e89dc62_2_0"/>
          <p:cNvSpPr/>
          <p:nvPr/>
        </p:nvSpPr>
        <p:spPr>
          <a:xfrm>
            <a:off x="4585924" y="7275"/>
            <a:ext cx="1118700" cy="330000"/>
          </a:xfrm>
          <a:prstGeom prst="rect">
            <a:avLst/>
          </a:prstGeom>
          <a:solidFill>
            <a:srgbClr val="F5E5D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潛在風險</a:t>
            </a:r>
            <a:endParaRPr sz="1100" b="0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51" name="Google Shape;1151;g3af4e89dc62_2_0"/>
          <p:cNvSpPr/>
          <p:nvPr/>
        </p:nvSpPr>
        <p:spPr>
          <a:xfrm>
            <a:off x="5734450" y="-8100"/>
            <a:ext cx="1118700" cy="346200"/>
          </a:xfrm>
          <a:prstGeom prst="rect">
            <a:avLst/>
          </a:prstGeom>
          <a:solidFill>
            <a:srgbClr val="7A645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b="1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財務模型</a:t>
            </a:r>
            <a:endParaRPr b="1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a847d0c546_1_585"/>
          <p:cNvSpPr/>
          <p:nvPr/>
        </p:nvSpPr>
        <p:spPr>
          <a:xfrm>
            <a:off x="6265150" y="324000"/>
            <a:ext cx="303900" cy="4417500"/>
          </a:xfrm>
          <a:prstGeom prst="roundRect">
            <a:avLst>
              <a:gd name="adj" fmla="val 50000"/>
            </a:avLst>
          </a:prstGeom>
          <a:solidFill>
            <a:srgbClr val="F5E5D4"/>
          </a:solidFill>
          <a:ln>
            <a:noFill/>
          </a:ln>
          <a:effectLst>
            <a:outerShdw blurRad="241300" dist="38100" sx="102000" sy="1020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g3a847d0c546_1_585"/>
          <p:cNvSpPr/>
          <p:nvPr/>
        </p:nvSpPr>
        <p:spPr>
          <a:xfrm>
            <a:off x="58" y="0"/>
            <a:ext cx="5790300" cy="5143500"/>
          </a:xfrm>
          <a:prstGeom prst="rect">
            <a:avLst/>
          </a:prstGeom>
          <a:solidFill>
            <a:srgbClr val="F1A63B"/>
          </a:solidFill>
          <a:ln>
            <a:noFill/>
          </a:ln>
          <a:effectLst>
            <a:outerShdw blurRad="469900" dist="38100" algn="l" rotWithShape="0">
              <a:srgbClr val="000000">
                <a:alpha val="3804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159" name="Google Shape;1159;g3a847d0c546_1_5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g3a847d0c546_1_585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/>
              <a:t>28</a:t>
            </a:r>
            <a:endParaRPr/>
          </a:p>
        </p:txBody>
      </p:sp>
      <p:sp>
        <p:nvSpPr>
          <p:cNvPr id="1161" name="Google Shape;1161;g3a847d0c546_1_585"/>
          <p:cNvSpPr txBox="1"/>
          <p:nvPr/>
        </p:nvSpPr>
        <p:spPr>
          <a:xfrm>
            <a:off x="6862496" y="703162"/>
            <a:ext cx="354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g3a847d0c546_1_585"/>
          <p:cNvSpPr/>
          <p:nvPr/>
        </p:nvSpPr>
        <p:spPr>
          <a:xfrm>
            <a:off x="6291988" y="3506700"/>
            <a:ext cx="303900" cy="1234800"/>
          </a:xfrm>
          <a:prstGeom prst="roundRect">
            <a:avLst>
              <a:gd name="adj" fmla="val 50000"/>
            </a:avLst>
          </a:prstGeom>
          <a:solidFill>
            <a:srgbClr val="7A645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g3a847d0c546_1_585"/>
          <p:cNvSpPr txBox="1"/>
          <p:nvPr/>
        </p:nvSpPr>
        <p:spPr>
          <a:xfrm>
            <a:off x="1440952" y="2260051"/>
            <a:ext cx="29085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zh-TW" sz="3600" b="1" i="0" u="none" strike="noStrike" cap="none">
                <a:solidFill>
                  <a:srgbClr val="42210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3600" b="0" i="0" u="none" strike="noStrike" cap="none">
              <a:solidFill>
                <a:srgbClr val="42210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g3a847d0c546_1_585"/>
          <p:cNvSpPr txBox="1"/>
          <p:nvPr/>
        </p:nvSpPr>
        <p:spPr>
          <a:xfrm>
            <a:off x="7097525" y="324000"/>
            <a:ext cx="1369500" cy="4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個股介紹產業概況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成長動能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潛在風險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財務模型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42210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2000" b="1" i="0" u="none" strike="noStrike" cap="none">
              <a:solidFill>
                <a:srgbClr val="42210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附錄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3a6c53eb87a_0_0"/>
          <p:cNvSpPr/>
          <p:nvPr/>
        </p:nvSpPr>
        <p:spPr>
          <a:xfrm>
            <a:off x="194155" y="914120"/>
            <a:ext cx="8676000" cy="45600"/>
          </a:xfrm>
          <a:prstGeom prst="rect">
            <a:avLst/>
          </a:prstGeom>
          <a:solidFill>
            <a:srgbClr val="0D39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70" name="Google Shape;1170;g3a6c53eb87a_0_0"/>
          <p:cNvSpPr txBox="1"/>
          <p:nvPr/>
        </p:nvSpPr>
        <p:spPr>
          <a:xfrm>
            <a:off x="194143" y="427575"/>
            <a:ext cx="7933800" cy="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投資建議：買入，目標價 4300 元，潛在漲幅 33 %</a:t>
            </a:r>
            <a:endParaRPr sz="2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71" name="Google Shape;1171;g3a6c53eb87a_0_0"/>
          <p:cNvSpPr/>
          <p:nvPr/>
        </p:nvSpPr>
        <p:spPr>
          <a:xfrm>
            <a:off x="248525" y="1426000"/>
            <a:ext cx="8572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TW" sz="1400" i="0" u="none" strike="noStrike" cap="none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NVLink Fusion 開放讓世芯有機會承接更多符合該規格的高階 ASIC 專案，不再只倚賴少數雲端大客戶，可望擴大客戶基礎、提升單案技術含量與 ASP。</a:t>
            </a:r>
            <a:endParaRPr sz="1400" i="0" u="none" strike="noStrike" cap="none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TW" sz="1400" i="0" u="none" strike="noStrike" cap="none" dirty="0">
                <a:solidFill>
                  <a:srgbClr val="303030"/>
                </a:solidFill>
                <a:highlight>
                  <a:schemeClr val="lt1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世芯提前佈局矽光子互連，有望在未來高頻寬、低功耗的 AI／HPC 新架構中卡位關鍵技術節點，拉高長線專案天花板與競爭門檻，為中長期成長提供額外選擇權。</a:t>
            </a:r>
            <a:endParaRPr sz="1400" i="0" u="none" strike="noStrike" cap="none" dirty="0">
              <a:solidFill>
                <a:srgbClr val="303030"/>
              </a:solidFill>
              <a:highlight>
                <a:schemeClr val="lt1"/>
              </a:highlight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72" name="Google Shape;1172;g3a6c53eb87a_0_0"/>
          <p:cNvSpPr/>
          <p:nvPr/>
        </p:nvSpPr>
        <p:spPr>
          <a:xfrm>
            <a:off x="13836" y="4876607"/>
            <a:ext cx="3360000" cy="20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73" name="Google Shape;1173;g3a6c53eb87a_0_0"/>
          <p:cNvSpPr/>
          <p:nvPr/>
        </p:nvSpPr>
        <p:spPr>
          <a:xfrm>
            <a:off x="272776" y="2391529"/>
            <a:ext cx="4116600" cy="290100"/>
          </a:xfrm>
          <a:prstGeom prst="rect">
            <a:avLst/>
          </a:prstGeom>
          <a:solidFill>
            <a:srgbClr val="F1A6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世芯相較加權指數報酬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74" name="Google Shape;1174;g3a6c53eb87a_0_0"/>
          <p:cNvSpPr/>
          <p:nvPr/>
        </p:nvSpPr>
        <p:spPr>
          <a:xfrm>
            <a:off x="4823824" y="2376829"/>
            <a:ext cx="3997200" cy="304800"/>
          </a:xfrm>
          <a:prstGeom prst="rect">
            <a:avLst/>
          </a:prstGeom>
          <a:solidFill>
            <a:srgbClr val="F1A5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世芯相較半導體產業表現</a:t>
            </a:r>
            <a:endParaRPr sz="1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75" name="Google Shape;1175;g3a6c53eb87a_0_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76" name="Google Shape;1176;g3a6c53eb87a_0_0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77" name="Google Shape;1177;g3a6c53eb87a_0_0"/>
          <p:cNvSpPr/>
          <p:nvPr/>
        </p:nvSpPr>
        <p:spPr>
          <a:xfrm>
            <a:off x="304800" y="3048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78" name="Google Shape;1178;g3a6c53eb87a_0_0"/>
          <p:cNvSpPr txBox="1">
            <a:spLocks noGrp="1"/>
          </p:cNvSpPr>
          <p:nvPr>
            <p:ph type="sldNum" idx="12"/>
          </p:nvPr>
        </p:nvSpPr>
        <p:spPr>
          <a:xfrm>
            <a:off x="8595300" y="48521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fld id="{00000000-1234-1234-1234-123412341234}" type="slidenum">
              <a:rPr lang="en-US" altLang="zh-TW">
                <a:latin typeface="Microsoft JhengHei"/>
                <a:ea typeface="Microsoft JhengHei"/>
                <a:cs typeface="Microsoft JhengHei"/>
                <a:sym typeface="Microsoft JhengHei"/>
              </a:rPr>
              <a:t>29</a:t>
            </a:fld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1179" name="Google Shape;1179;g3a6c53eb87a_0_0"/>
          <p:cNvGraphicFramePr/>
          <p:nvPr/>
        </p:nvGraphicFramePr>
        <p:xfrm>
          <a:off x="194154" y="1019668"/>
          <a:ext cx="8676000" cy="304810"/>
        </p:xfrm>
        <a:graphic>
          <a:graphicData uri="http://schemas.openxmlformats.org/drawingml/2006/table">
            <a:tbl>
              <a:tblPr firstRow="1" bandRow="1">
                <a:noFill/>
                <a:tableStyleId>{1F244E0B-DF4C-41BC-92F3-A661F252351B}</a:tableStyleId>
              </a:tblPr>
              <a:tblGrid>
                <a:gridCol w="109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買進原因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A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股票代號：</a:t>
                      </a:r>
                      <a:r>
                        <a:rPr lang="zh-TW" sz="1400" b="1" u="none" strike="noStrike" cap="none">
                          <a:solidFill>
                            <a:schemeClr val="dk1"/>
                          </a:solidFill>
                        </a:rPr>
                        <a:t>3661</a:t>
                      </a:r>
                      <a:r>
                        <a:rPr lang="zh-TW" sz="1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｜產業：</a:t>
                      </a:r>
                      <a:r>
                        <a:rPr lang="zh-TW" sz="1400" b="1" u="none" strike="noStrike" cap="none">
                          <a:solidFill>
                            <a:schemeClr val="dk1"/>
                          </a:solidFill>
                        </a:rPr>
                        <a:t>IC 設計</a:t>
                      </a:r>
                      <a:r>
                        <a:rPr lang="zh-TW" sz="14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｜評價基準日：</a:t>
                      </a:r>
                      <a:r>
                        <a:rPr lang="zh-TW" sz="1400" b="1" u="none" strike="noStrike" cap="none">
                          <a:solidFill>
                            <a:schemeClr val="dk1"/>
                          </a:solidFill>
                        </a:rPr>
                        <a:t>2025/12/12</a:t>
                      </a:r>
                      <a:r>
                        <a:rPr lang="zh-TW" sz="14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｜收盤價： </a:t>
                      </a:r>
                      <a:r>
                        <a:rPr lang="zh-TW" sz="1400" b="1" u="none" strike="noStrike" cap="none">
                          <a:solidFill>
                            <a:schemeClr val="dk1"/>
                          </a:solidFill>
                        </a:rPr>
                        <a:t>3,220</a:t>
                      </a:r>
                      <a:r>
                        <a:rPr lang="zh-TW" sz="14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元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80" name="Google Shape;1180;g3a6c53eb87a_0_0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1181" name="Google Shape;1181;g3a6c53eb87a_0_0"/>
          <p:cNvGrpSpPr/>
          <p:nvPr/>
        </p:nvGrpSpPr>
        <p:grpSpPr>
          <a:xfrm>
            <a:off x="-164" y="0"/>
            <a:ext cx="9144164" cy="330000"/>
            <a:chOff x="-5459" y="0"/>
            <a:chExt cx="9144164" cy="330000"/>
          </a:xfrm>
        </p:grpSpPr>
        <p:sp>
          <p:nvSpPr>
            <p:cNvPr id="1182" name="Google Shape;1182;g3a6c53eb87a_0_0"/>
            <p:cNvSpPr/>
            <p:nvPr/>
          </p:nvSpPr>
          <p:spPr>
            <a:xfrm>
              <a:off x="-5459" y="0"/>
              <a:ext cx="1118700" cy="330000"/>
            </a:xfrm>
            <a:prstGeom prst="rect">
              <a:avLst/>
            </a:prstGeom>
            <a:solidFill>
              <a:srgbClr val="7A645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83" name="Google Shape;1183;g3a6c53eb87a_0_0"/>
            <p:cNvSpPr/>
            <p:nvPr/>
          </p:nvSpPr>
          <p:spPr>
            <a:xfrm>
              <a:off x="3434054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成長動能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84" name="Google Shape;1184;g3a6c53eb87a_0_0"/>
            <p:cNvSpPr/>
            <p:nvPr/>
          </p:nvSpPr>
          <p:spPr>
            <a:xfrm>
              <a:off x="4580541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潛在風險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85" name="Google Shape;1185;g3a6c53eb87a_0_0"/>
            <p:cNvSpPr/>
            <p:nvPr/>
          </p:nvSpPr>
          <p:spPr>
            <a:xfrm>
              <a:off x="5727029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財務模型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86" name="Google Shape;1186;g3a6c53eb87a_0_0"/>
            <p:cNvSpPr/>
            <p:nvPr/>
          </p:nvSpPr>
          <p:spPr>
            <a:xfrm>
              <a:off x="6873517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結論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87" name="Google Shape;1187;g3a6c53eb87a_0_0"/>
            <p:cNvSpPr/>
            <p:nvPr/>
          </p:nvSpPr>
          <p:spPr>
            <a:xfrm>
              <a:off x="8020005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附錄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88" name="Google Shape;1188;g3a6c53eb87a_0_0"/>
            <p:cNvSpPr/>
            <p:nvPr/>
          </p:nvSpPr>
          <p:spPr>
            <a:xfrm>
              <a:off x="2287550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產業概況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1189" name="Google Shape;1189;g3a6c53eb87a_0_0"/>
            <p:cNvSpPr/>
            <p:nvPr/>
          </p:nvSpPr>
          <p:spPr>
            <a:xfrm>
              <a:off x="1141062" y="0"/>
              <a:ext cx="1118700" cy="330000"/>
            </a:xfrm>
            <a:prstGeom prst="rect">
              <a:avLst/>
            </a:prstGeom>
            <a:solidFill>
              <a:srgbClr val="F5E5D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zh-TW" sz="1400" b="1" i="0" u="none" strike="noStrike" cap="none">
                  <a:solidFill>
                    <a:srgbClr val="C9B4A5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個股介紹</a:t>
              </a:r>
              <a:endParaRPr sz="1100" b="0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cxnSp>
        <p:nvCxnSpPr>
          <p:cNvPr id="1190" name="Google Shape;1190;g3a6c53eb87a_0_0"/>
          <p:cNvCxnSpPr/>
          <p:nvPr/>
        </p:nvCxnSpPr>
        <p:spPr>
          <a:xfrm>
            <a:off x="248520" y="4823931"/>
            <a:ext cx="8347500" cy="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191" name="Google Shape;1191;g3a6c53eb87a_0_0" title="分數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538" y="2681628"/>
            <a:ext cx="4116600" cy="2064995"/>
          </a:xfrm>
          <a:prstGeom prst="rect">
            <a:avLst/>
          </a:prstGeom>
          <a:solidFill>
            <a:srgbClr val="F1A63B"/>
          </a:solidFill>
          <a:ln>
            <a:noFill/>
          </a:ln>
        </p:spPr>
      </p:pic>
      <p:pic>
        <p:nvPicPr>
          <p:cNvPr id="1192" name="Google Shape;1192;g3a6c53eb87a_0_0" title="未命名設計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23824" y="2689271"/>
            <a:ext cx="3997199" cy="2057349"/>
          </a:xfrm>
          <a:prstGeom prst="rect">
            <a:avLst/>
          </a:prstGeom>
          <a:noFill/>
          <a:ln>
            <a:noFill/>
          </a:ln>
        </p:spPr>
      </p:pic>
      <p:sp>
        <p:nvSpPr>
          <p:cNvPr id="1193" name="Google Shape;1193;g3a6c53eb87a_0_0"/>
          <p:cNvSpPr txBox="1"/>
          <p:nvPr/>
        </p:nvSpPr>
        <p:spPr>
          <a:xfrm>
            <a:off x="272776" y="4884250"/>
            <a:ext cx="56604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資料來源：自行整理 </a:t>
            </a:r>
            <a:endParaRPr sz="1100" b="1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94" name="Google Shape;1194;g3a6c53eb87a_0_0"/>
          <p:cNvSpPr txBox="1"/>
          <p:nvPr/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3332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sz="1200" b="0" i="0" u="none" strike="noStrike" cap="non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195" name="Google Shape;1195;g3a6c53eb87a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3a847d0c546_1_597"/>
          <p:cNvSpPr/>
          <p:nvPr/>
        </p:nvSpPr>
        <p:spPr>
          <a:xfrm>
            <a:off x="6265150" y="324000"/>
            <a:ext cx="303900" cy="4684200"/>
          </a:xfrm>
          <a:prstGeom prst="roundRect">
            <a:avLst>
              <a:gd name="adj" fmla="val 50000"/>
            </a:avLst>
          </a:prstGeom>
          <a:solidFill>
            <a:srgbClr val="F5E5D4"/>
          </a:solidFill>
          <a:ln>
            <a:noFill/>
          </a:ln>
          <a:effectLst>
            <a:outerShdw blurRad="241300" dist="38100" sx="102000" sy="1020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g3a847d0c546_1_597"/>
          <p:cNvSpPr/>
          <p:nvPr/>
        </p:nvSpPr>
        <p:spPr>
          <a:xfrm>
            <a:off x="58" y="0"/>
            <a:ext cx="5790300" cy="5143500"/>
          </a:xfrm>
          <a:prstGeom prst="rect">
            <a:avLst/>
          </a:prstGeom>
          <a:solidFill>
            <a:srgbClr val="F1A63B"/>
          </a:solidFill>
          <a:ln>
            <a:noFill/>
          </a:ln>
          <a:effectLst>
            <a:outerShdw blurRad="469900" dist="38100" algn="l" rotWithShape="0">
              <a:srgbClr val="000000">
                <a:alpha val="3804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203" name="Google Shape;1203;g3a847d0c546_1_5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482" y="4902041"/>
            <a:ext cx="1085425" cy="168988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g3a847d0c546_1_597"/>
          <p:cNvSpPr txBox="1">
            <a:spLocks noGrp="1"/>
          </p:cNvSpPr>
          <p:nvPr>
            <p:ph type="sldNum" idx="12"/>
          </p:nvPr>
        </p:nvSpPr>
        <p:spPr>
          <a:xfrm>
            <a:off x="6982385" y="482105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/>
              <a:t>30</a:t>
            </a:r>
            <a:endParaRPr/>
          </a:p>
        </p:txBody>
      </p:sp>
      <p:sp>
        <p:nvSpPr>
          <p:cNvPr id="1205" name="Google Shape;1205;g3a847d0c546_1_597"/>
          <p:cNvSpPr txBox="1"/>
          <p:nvPr/>
        </p:nvSpPr>
        <p:spPr>
          <a:xfrm>
            <a:off x="6862496" y="703162"/>
            <a:ext cx="354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g3a847d0c546_1_597"/>
          <p:cNvSpPr/>
          <p:nvPr/>
        </p:nvSpPr>
        <p:spPr>
          <a:xfrm>
            <a:off x="6265138" y="3773400"/>
            <a:ext cx="303900" cy="1234800"/>
          </a:xfrm>
          <a:prstGeom prst="roundRect">
            <a:avLst>
              <a:gd name="adj" fmla="val 50000"/>
            </a:avLst>
          </a:prstGeom>
          <a:solidFill>
            <a:srgbClr val="7A645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g3a847d0c546_1_597"/>
          <p:cNvSpPr txBox="1"/>
          <p:nvPr/>
        </p:nvSpPr>
        <p:spPr>
          <a:xfrm>
            <a:off x="1440952" y="2260051"/>
            <a:ext cx="29085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zh-TW" sz="3600" b="1">
                <a:solidFill>
                  <a:srgbClr val="42210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附錄</a:t>
            </a:r>
            <a:endParaRPr sz="3600" b="0" i="0" u="none" strike="noStrike" cap="none">
              <a:solidFill>
                <a:srgbClr val="42210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g3a847d0c546_1_597"/>
          <p:cNvSpPr txBox="1"/>
          <p:nvPr/>
        </p:nvSpPr>
        <p:spPr>
          <a:xfrm>
            <a:off x="7097525" y="324000"/>
            <a:ext cx="1369500" cy="4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個股介紹產業概況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成長動能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潛在風險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財務模型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C9B4A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endParaRPr sz="2000" b="1" i="0" u="none" strike="noStrike" cap="none">
              <a:solidFill>
                <a:srgbClr val="C9B4A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000" b="1" i="0" u="none" strike="noStrike" cap="none">
                <a:solidFill>
                  <a:srgbClr val="42210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附錄</a:t>
            </a:r>
            <a:endParaRPr sz="2000" b="1" i="0" u="none" strike="noStrike" cap="none">
              <a:solidFill>
                <a:srgbClr val="42210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黃色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6283</Words>
  <Application>Microsoft Office PowerPoint</Application>
  <PresentationFormat>如螢幕大小 (16:9)</PresentationFormat>
  <Paragraphs>682</Paragraphs>
  <Slides>30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30</vt:i4>
      </vt:variant>
    </vt:vector>
  </HeadingPairs>
  <TitlesOfParts>
    <vt:vector size="40" baseType="lpstr">
      <vt:lpstr>微軟正黑體</vt:lpstr>
      <vt:lpstr>Wingdings</vt:lpstr>
      <vt:lpstr>Arial Black</vt:lpstr>
      <vt:lpstr>Arial</vt:lpstr>
      <vt:lpstr>微軟正黑體</vt:lpstr>
      <vt:lpstr>Calibri</vt:lpstr>
      <vt:lpstr>Noto Sans Symbols</vt:lpstr>
      <vt:lpstr>Office 佈景主題</vt:lpstr>
      <vt:lpstr>Office 佈景主題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方翊倫</dc:creator>
  <cp:lastModifiedBy>翊倫 方</cp:lastModifiedBy>
  <cp:revision>10</cp:revision>
  <dcterms:modified xsi:type="dcterms:W3CDTF">2025-12-14T06:08:02Z</dcterms:modified>
</cp:coreProperties>
</file>